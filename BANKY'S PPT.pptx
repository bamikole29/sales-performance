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6.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7"/>
  </p:notesMasterIdLst>
  <p:handoutMasterIdLst>
    <p:handoutMasterId r:id="rId18"/>
  </p:handoutMasterIdLst>
  <p:sldIdLst>
    <p:sldId id="289" r:id="rId5"/>
    <p:sldId id="281" r:id="rId6"/>
    <p:sldId id="296" r:id="rId7"/>
    <p:sldId id="286" r:id="rId8"/>
    <p:sldId id="280" r:id="rId9"/>
    <p:sldId id="272" r:id="rId10"/>
    <p:sldId id="287" r:id="rId11"/>
    <p:sldId id="273" r:id="rId12"/>
    <p:sldId id="291" r:id="rId13"/>
    <p:sldId id="278" r:id="rId14"/>
    <p:sldId id="295" r:id="rId15"/>
    <p:sldId id="28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13"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0A2"/>
    <a:srgbClr val="404040"/>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62" autoAdjust="0"/>
    <p:restoredTop sz="94670"/>
  </p:normalViewPr>
  <p:slideViewPr>
    <p:cSldViewPr snapToGrid="0">
      <p:cViewPr>
        <p:scale>
          <a:sx n="50" d="100"/>
          <a:sy n="50" d="100"/>
        </p:scale>
        <p:origin x="1320" y="948"/>
      </p:cViewPr>
      <p:guideLst>
        <p:guide pos="3840"/>
        <p:guide orient="horz" pos="2160"/>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accent2"/>
            </a:solidFill>
          </c:spPr>
          <c:dPt>
            <c:idx val="0"/>
            <c:bubble3D val="0"/>
            <c:spPr>
              <a:solidFill>
                <a:schemeClr val="accent3"/>
              </a:solidFill>
              <a:ln w="19050">
                <a:noFill/>
              </a:ln>
              <a:effectLst/>
            </c:spPr>
            <c:extLst>
              <c:ext xmlns:c16="http://schemas.microsoft.com/office/drawing/2014/chart" uri="{C3380CC4-5D6E-409C-BE32-E72D297353CC}">
                <c16:uniqueId val="{00000001-D06F-455E-BFEA-78E46F0B6156}"/>
              </c:ext>
            </c:extLst>
          </c:dPt>
          <c:dPt>
            <c:idx val="1"/>
            <c:bubble3D val="0"/>
            <c:spPr>
              <a:solidFill>
                <a:schemeClr val="bg2"/>
              </a:solidFill>
              <a:ln w="19050">
                <a:noFill/>
              </a:ln>
              <a:effectLst/>
            </c:spPr>
            <c:extLst>
              <c:ext xmlns:c16="http://schemas.microsoft.com/office/drawing/2014/chart" uri="{C3380CC4-5D6E-409C-BE32-E72D297353CC}">
                <c16:uniqueId val="{00000003-D06F-455E-BFEA-78E46F0B6156}"/>
              </c:ext>
            </c:extLst>
          </c:dPt>
          <c:cat>
            <c:strRef>
              <c:f>Sheet1!$A$2:$A$3</c:f>
              <c:strCache>
                <c:ptCount val="2"/>
                <c:pt idx="0">
                  <c:v>1st Qtr</c:v>
                </c:pt>
                <c:pt idx="1">
                  <c:v>2nd Qtr</c:v>
                </c:pt>
              </c:strCache>
            </c:strRef>
          </c:cat>
          <c:val>
            <c:numRef>
              <c:f>Sheet1!$B$2:$B$3</c:f>
              <c:numCache>
                <c:formatCode>General</c:formatCode>
                <c:ptCount val="2"/>
                <c:pt idx="0">
                  <c:v>17</c:v>
                </c:pt>
                <c:pt idx="1">
                  <c:v>83</c:v>
                </c:pt>
              </c:numCache>
            </c:numRef>
          </c:val>
          <c:extLst>
            <c:ext xmlns:c16="http://schemas.microsoft.com/office/drawing/2014/chart" uri="{C3380CC4-5D6E-409C-BE32-E72D297353CC}">
              <c16:uniqueId val="{00000004-D06F-455E-BFEA-78E46F0B6156}"/>
            </c:ext>
          </c:extLst>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3"/>
              </a:solidFill>
              <a:ln w="19050">
                <a:noFill/>
              </a:ln>
              <a:effectLst/>
            </c:spPr>
            <c:extLst>
              <c:ext xmlns:c16="http://schemas.microsoft.com/office/drawing/2014/chart" uri="{C3380CC4-5D6E-409C-BE32-E72D297353CC}">
                <c16:uniqueId val="{00000001-38C1-46BF-8440-AEFD0DA39D91}"/>
              </c:ext>
            </c:extLst>
          </c:dPt>
          <c:dPt>
            <c:idx val="1"/>
            <c:bubble3D val="0"/>
            <c:spPr>
              <a:solidFill>
                <a:schemeClr val="bg2"/>
              </a:solidFill>
              <a:ln w="19050">
                <a:noFill/>
              </a:ln>
              <a:effectLst/>
            </c:spPr>
            <c:extLst>
              <c:ext xmlns:c16="http://schemas.microsoft.com/office/drawing/2014/chart" uri="{C3380CC4-5D6E-409C-BE32-E72D297353CC}">
                <c16:uniqueId val="{00000002-38C1-46BF-8440-AEFD0DA39D91}"/>
              </c:ext>
            </c:extLst>
          </c:dPt>
          <c:cat>
            <c:strRef>
              <c:f>Sheet1!$A$2:$A$3</c:f>
              <c:strCache>
                <c:ptCount val="2"/>
                <c:pt idx="0">
                  <c:v>1st Qtr</c:v>
                </c:pt>
                <c:pt idx="1">
                  <c:v>2nd Qtr</c:v>
                </c:pt>
              </c:strCache>
            </c:strRef>
          </c:cat>
          <c:val>
            <c:numRef>
              <c:f>Sheet1!$B$2:$B$3</c:f>
              <c:numCache>
                <c:formatCode>General</c:formatCode>
                <c:ptCount val="2"/>
                <c:pt idx="0">
                  <c:v>47</c:v>
                </c:pt>
                <c:pt idx="1">
                  <c:v>53</c:v>
                </c:pt>
              </c:numCache>
            </c:numRef>
          </c:val>
          <c:extLst>
            <c:ext xmlns:c16="http://schemas.microsoft.com/office/drawing/2014/chart" uri="{C3380CC4-5D6E-409C-BE32-E72D297353CC}">
              <c16:uniqueId val="{00000000-38C1-46BF-8440-AEFD0DA39D91}"/>
            </c:ext>
          </c:extLst>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accent2"/>
            </a:solidFill>
          </c:spPr>
          <c:dPt>
            <c:idx val="0"/>
            <c:bubble3D val="0"/>
            <c:spPr>
              <a:solidFill>
                <a:schemeClr val="accent3"/>
              </a:solidFill>
              <a:ln w="19050">
                <a:noFill/>
              </a:ln>
              <a:effectLst/>
            </c:spPr>
            <c:extLst>
              <c:ext xmlns:c16="http://schemas.microsoft.com/office/drawing/2014/chart" uri="{C3380CC4-5D6E-409C-BE32-E72D297353CC}">
                <c16:uniqueId val="{00000001-364E-4D58-81DC-2B1385B5A2BF}"/>
              </c:ext>
            </c:extLst>
          </c:dPt>
          <c:dPt>
            <c:idx val="1"/>
            <c:bubble3D val="0"/>
            <c:spPr>
              <a:solidFill>
                <a:schemeClr val="bg2"/>
              </a:solidFill>
              <a:ln w="19050">
                <a:noFill/>
              </a:ln>
              <a:effectLst/>
            </c:spPr>
            <c:extLst>
              <c:ext xmlns:c16="http://schemas.microsoft.com/office/drawing/2014/chart" uri="{C3380CC4-5D6E-409C-BE32-E72D297353CC}">
                <c16:uniqueId val="{00000003-364E-4D58-81DC-2B1385B5A2BF}"/>
              </c:ext>
            </c:extLst>
          </c:dPt>
          <c:cat>
            <c:strRef>
              <c:f>Sheet1!$A$2:$A$3</c:f>
              <c:strCache>
                <c:ptCount val="2"/>
                <c:pt idx="0">
                  <c:v>1st Qtr</c:v>
                </c:pt>
                <c:pt idx="1">
                  <c:v>2nd Qtr</c:v>
                </c:pt>
              </c:strCache>
            </c:strRef>
          </c:cat>
          <c:val>
            <c:numRef>
              <c:f>Sheet1!$B$2:$B$3</c:f>
              <c:numCache>
                <c:formatCode>General</c:formatCode>
                <c:ptCount val="2"/>
                <c:pt idx="0">
                  <c:v>21</c:v>
                </c:pt>
                <c:pt idx="1">
                  <c:v>79</c:v>
                </c:pt>
              </c:numCache>
            </c:numRef>
          </c:val>
          <c:extLst>
            <c:ext xmlns:c16="http://schemas.microsoft.com/office/drawing/2014/chart" uri="{C3380CC4-5D6E-409C-BE32-E72D297353CC}">
              <c16:uniqueId val="{00000004-364E-4D58-81DC-2B1385B5A2BF}"/>
            </c:ext>
          </c:extLst>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accent2"/>
            </a:solidFill>
          </c:spPr>
          <c:dPt>
            <c:idx val="0"/>
            <c:bubble3D val="0"/>
            <c:spPr>
              <a:solidFill>
                <a:schemeClr val="accent3"/>
              </a:solidFill>
              <a:ln w="19050">
                <a:noFill/>
              </a:ln>
              <a:effectLst/>
            </c:spPr>
            <c:extLst>
              <c:ext xmlns:c16="http://schemas.microsoft.com/office/drawing/2014/chart" uri="{C3380CC4-5D6E-409C-BE32-E72D297353CC}">
                <c16:uniqueId val="{00000001-3974-451F-922D-5036AF7DB1A6}"/>
              </c:ext>
            </c:extLst>
          </c:dPt>
          <c:dPt>
            <c:idx val="1"/>
            <c:bubble3D val="0"/>
            <c:spPr>
              <a:solidFill>
                <a:schemeClr val="bg2"/>
              </a:solidFill>
              <a:ln w="19050">
                <a:noFill/>
              </a:ln>
              <a:effectLst/>
            </c:spPr>
            <c:extLst>
              <c:ext xmlns:c16="http://schemas.microsoft.com/office/drawing/2014/chart" uri="{C3380CC4-5D6E-409C-BE32-E72D297353CC}">
                <c16:uniqueId val="{00000003-3974-451F-922D-5036AF7DB1A6}"/>
              </c:ext>
            </c:extLst>
          </c:dPt>
          <c:cat>
            <c:strRef>
              <c:f>Sheet1!$A$2:$A$3</c:f>
              <c:strCache>
                <c:ptCount val="2"/>
                <c:pt idx="0">
                  <c:v>1st Qtr</c:v>
                </c:pt>
                <c:pt idx="1">
                  <c:v>2nd Qtr</c:v>
                </c:pt>
              </c:strCache>
            </c:strRef>
          </c:cat>
          <c:val>
            <c:numRef>
              <c:f>Sheet1!$B$2:$B$3</c:f>
              <c:numCache>
                <c:formatCode>General</c:formatCode>
                <c:ptCount val="2"/>
                <c:pt idx="0">
                  <c:v>17</c:v>
                </c:pt>
                <c:pt idx="1">
                  <c:v>83</c:v>
                </c:pt>
              </c:numCache>
            </c:numRef>
          </c:val>
          <c:extLst>
            <c:ext xmlns:c16="http://schemas.microsoft.com/office/drawing/2014/chart" uri="{C3380CC4-5D6E-409C-BE32-E72D297353CC}">
              <c16:uniqueId val="{00000004-3974-451F-922D-5036AF7DB1A6}"/>
            </c:ext>
          </c:extLst>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accent2"/>
            </a:solidFill>
          </c:spPr>
          <c:dPt>
            <c:idx val="0"/>
            <c:bubble3D val="0"/>
            <c:spPr>
              <a:solidFill>
                <a:schemeClr val="accent3"/>
              </a:solidFill>
              <a:ln w="19050">
                <a:noFill/>
              </a:ln>
              <a:effectLst/>
            </c:spPr>
            <c:extLst>
              <c:ext xmlns:c16="http://schemas.microsoft.com/office/drawing/2014/chart" uri="{C3380CC4-5D6E-409C-BE32-E72D297353CC}">
                <c16:uniqueId val="{00000001-0011-4772-93FF-8CF059B07177}"/>
              </c:ext>
            </c:extLst>
          </c:dPt>
          <c:dPt>
            <c:idx val="1"/>
            <c:bubble3D val="0"/>
            <c:spPr>
              <a:solidFill>
                <a:schemeClr val="bg2"/>
              </a:solidFill>
              <a:ln w="19050">
                <a:noFill/>
              </a:ln>
              <a:effectLst/>
            </c:spPr>
            <c:extLst>
              <c:ext xmlns:c16="http://schemas.microsoft.com/office/drawing/2014/chart" uri="{C3380CC4-5D6E-409C-BE32-E72D297353CC}">
                <c16:uniqueId val="{00000003-0011-4772-93FF-8CF059B07177}"/>
              </c:ext>
            </c:extLst>
          </c:dPt>
          <c:cat>
            <c:strRef>
              <c:f>Sheet1!$A$2:$A$3</c:f>
              <c:strCache>
                <c:ptCount val="2"/>
                <c:pt idx="0">
                  <c:v>1st Qtr</c:v>
                </c:pt>
                <c:pt idx="1">
                  <c:v>2nd Qtr</c:v>
                </c:pt>
              </c:strCache>
            </c:strRef>
          </c:cat>
          <c:val>
            <c:numRef>
              <c:f>Sheet1!$B$2:$B$3</c:f>
              <c:numCache>
                <c:formatCode>General</c:formatCode>
                <c:ptCount val="2"/>
                <c:pt idx="0">
                  <c:v>37</c:v>
                </c:pt>
                <c:pt idx="1">
                  <c:v>63</c:v>
                </c:pt>
              </c:numCache>
            </c:numRef>
          </c:val>
          <c:extLst>
            <c:ext xmlns:c16="http://schemas.microsoft.com/office/drawing/2014/chart" uri="{C3380CC4-5D6E-409C-BE32-E72D297353CC}">
              <c16:uniqueId val="{00000004-0011-4772-93FF-8CF059B07177}"/>
            </c:ext>
          </c:extLst>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accent2"/>
            </a:solidFill>
          </c:spPr>
          <c:dPt>
            <c:idx val="0"/>
            <c:bubble3D val="0"/>
            <c:spPr>
              <a:solidFill>
                <a:schemeClr val="accent3"/>
              </a:solidFill>
              <a:ln w="19050">
                <a:noFill/>
              </a:ln>
              <a:effectLst/>
            </c:spPr>
            <c:extLst>
              <c:ext xmlns:c16="http://schemas.microsoft.com/office/drawing/2014/chart" uri="{C3380CC4-5D6E-409C-BE32-E72D297353CC}">
                <c16:uniqueId val="{00000001-B7EF-486F-B9C3-BB44DDE740B7}"/>
              </c:ext>
            </c:extLst>
          </c:dPt>
          <c:dPt>
            <c:idx val="1"/>
            <c:bubble3D val="0"/>
            <c:spPr>
              <a:solidFill>
                <a:schemeClr val="bg2"/>
              </a:solidFill>
              <a:ln w="19050">
                <a:noFill/>
              </a:ln>
              <a:effectLst/>
            </c:spPr>
            <c:extLst>
              <c:ext xmlns:c16="http://schemas.microsoft.com/office/drawing/2014/chart" uri="{C3380CC4-5D6E-409C-BE32-E72D297353CC}">
                <c16:uniqueId val="{00000003-B7EF-486F-B9C3-BB44DDE740B7}"/>
              </c:ext>
            </c:extLst>
          </c:dPt>
          <c:cat>
            <c:strRef>
              <c:f>Sheet1!$A$2:$A$3</c:f>
              <c:strCache>
                <c:ptCount val="2"/>
                <c:pt idx="0">
                  <c:v>1st Qtr</c:v>
                </c:pt>
                <c:pt idx="1">
                  <c:v>2nd Qtr</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B7EF-486F-B9C3-BB44DDE740B7}"/>
            </c:ext>
          </c:extLst>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accent2"/>
            </a:solidFill>
          </c:spPr>
          <c:dPt>
            <c:idx val="0"/>
            <c:bubble3D val="0"/>
            <c:spPr>
              <a:solidFill>
                <a:schemeClr val="accent3"/>
              </a:solidFill>
              <a:ln w="19050">
                <a:noFill/>
              </a:ln>
              <a:effectLst/>
            </c:spPr>
            <c:extLst>
              <c:ext xmlns:c16="http://schemas.microsoft.com/office/drawing/2014/chart" uri="{C3380CC4-5D6E-409C-BE32-E72D297353CC}">
                <c16:uniqueId val="{00000001-CFF2-42A2-BC86-C3635DA8C6D9}"/>
              </c:ext>
            </c:extLst>
          </c:dPt>
          <c:dPt>
            <c:idx val="1"/>
            <c:bubble3D val="0"/>
            <c:spPr>
              <a:solidFill>
                <a:schemeClr val="bg2"/>
              </a:solidFill>
              <a:ln w="19050">
                <a:noFill/>
              </a:ln>
              <a:effectLst/>
            </c:spPr>
            <c:extLst>
              <c:ext xmlns:c16="http://schemas.microsoft.com/office/drawing/2014/chart" uri="{C3380CC4-5D6E-409C-BE32-E72D297353CC}">
                <c16:uniqueId val="{00000003-CFF2-42A2-BC86-C3635DA8C6D9}"/>
              </c:ext>
            </c:extLst>
          </c:dPt>
          <c:cat>
            <c:strRef>
              <c:f>Sheet1!$A$2:$A$3</c:f>
              <c:strCache>
                <c:ptCount val="2"/>
                <c:pt idx="0">
                  <c:v>1st Qtr</c:v>
                </c:pt>
                <c:pt idx="1">
                  <c:v>2nd Qtr</c:v>
                </c:pt>
              </c:strCache>
            </c:strRef>
          </c:cat>
          <c:val>
            <c:numRef>
              <c:f>Sheet1!$B$2:$B$3</c:f>
              <c:numCache>
                <c:formatCode>General</c:formatCode>
                <c:ptCount val="2"/>
                <c:pt idx="0">
                  <c:v>37</c:v>
                </c:pt>
                <c:pt idx="1">
                  <c:v>63</c:v>
                </c:pt>
              </c:numCache>
            </c:numRef>
          </c:val>
          <c:extLst>
            <c:ext xmlns:c16="http://schemas.microsoft.com/office/drawing/2014/chart" uri="{C3380CC4-5D6E-409C-BE32-E72D297353CC}">
              <c16:uniqueId val="{00000004-CFF2-42A2-BC86-C3635DA8C6D9}"/>
            </c:ext>
          </c:extLst>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accent2"/>
            </a:solidFill>
          </c:spPr>
          <c:dPt>
            <c:idx val="0"/>
            <c:bubble3D val="0"/>
            <c:spPr>
              <a:solidFill>
                <a:schemeClr val="accent3"/>
              </a:solidFill>
              <a:ln w="19050">
                <a:noFill/>
              </a:ln>
              <a:effectLst/>
            </c:spPr>
            <c:extLst>
              <c:ext xmlns:c16="http://schemas.microsoft.com/office/drawing/2014/chart" uri="{C3380CC4-5D6E-409C-BE32-E72D297353CC}">
                <c16:uniqueId val="{00000001-D5B0-4736-9DB1-BF50B16ECF77}"/>
              </c:ext>
            </c:extLst>
          </c:dPt>
          <c:dPt>
            <c:idx val="1"/>
            <c:bubble3D val="0"/>
            <c:spPr>
              <a:solidFill>
                <a:schemeClr val="accent5"/>
              </a:solidFill>
              <a:ln w="19050">
                <a:noFill/>
              </a:ln>
              <a:effectLst/>
            </c:spPr>
            <c:extLst>
              <c:ext xmlns:c16="http://schemas.microsoft.com/office/drawing/2014/chart" uri="{C3380CC4-5D6E-409C-BE32-E72D297353CC}">
                <c16:uniqueId val="{00000003-D5B0-4736-9DB1-BF50B16ECF77}"/>
              </c:ext>
            </c:extLst>
          </c:dPt>
          <c:dPt>
            <c:idx val="2"/>
            <c:bubble3D val="0"/>
            <c:spPr>
              <a:solidFill>
                <a:schemeClr val="accent4"/>
              </a:solidFill>
              <a:ln w="19050">
                <a:noFill/>
              </a:ln>
              <a:effectLst/>
            </c:spPr>
            <c:extLst>
              <c:ext xmlns:c16="http://schemas.microsoft.com/office/drawing/2014/chart" uri="{C3380CC4-5D6E-409C-BE32-E72D297353CC}">
                <c16:uniqueId val="{00000005-D5B0-4736-9DB1-BF50B16ECF77}"/>
              </c:ext>
            </c:extLst>
          </c:dPt>
          <c:dPt>
            <c:idx val="3"/>
            <c:bubble3D val="0"/>
            <c:spPr>
              <a:solidFill>
                <a:schemeClr val="accent6"/>
              </a:solidFill>
              <a:ln w="19050">
                <a:noFill/>
              </a:ln>
              <a:effectLst/>
            </c:spPr>
            <c:extLst>
              <c:ext xmlns:c16="http://schemas.microsoft.com/office/drawing/2014/chart" uri="{C3380CC4-5D6E-409C-BE32-E72D297353CC}">
                <c16:uniqueId val="{00000007-D5B0-4736-9DB1-BF50B16ECF77}"/>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39</c:v>
                </c:pt>
                <c:pt idx="1">
                  <c:v>20</c:v>
                </c:pt>
                <c:pt idx="2">
                  <c:v>20</c:v>
                </c:pt>
                <c:pt idx="3">
                  <c:v>21</c:v>
                </c:pt>
              </c:numCache>
            </c:numRef>
          </c:val>
          <c:extLst>
            <c:ext xmlns:c16="http://schemas.microsoft.com/office/drawing/2014/chart" uri="{C3380CC4-5D6E-409C-BE32-E72D297353CC}">
              <c16:uniqueId val="{00000008-D5B0-4736-9DB1-BF50B16ECF77}"/>
            </c:ext>
          </c:extLst>
        </c:ser>
        <c:dLbls>
          <c:showLegendKey val="0"/>
          <c:showVal val="0"/>
          <c:showCatName val="0"/>
          <c:showSerName val="0"/>
          <c:showPercent val="0"/>
          <c:showBubbleSize val="0"/>
          <c:showLeaderLines val="1"/>
        </c:dLbls>
        <c:firstSliceAng val="12"/>
        <c:holeSize val="71"/>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noProof="0"/>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accent2"/>
            </a:solidFill>
          </c:spPr>
          <c:dPt>
            <c:idx val="0"/>
            <c:bubble3D val="0"/>
            <c:spPr>
              <a:solidFill>
                <a:schemeClr val="accent3"/>
              </a:solidFill>
              <a:ln w="19050">
                <a:noFill/>
              </a:ln>
              <a:effectLst/>
            </c:spPr>
            <c:extLst>
              <c:ext xmlns:c16="http://schemas.microsoft.com/office/drawing/2014/chart" uri="{C3380CC4-5D6E-409C-BE32-E72D297353CC}">
                <c16:uniqueId val="{00000001-275F-4C0A-BBA0-64BAC8E02D84}"/>
              </c:ext>
            </c:extLst>
          </c:dPt>
          <c:dPt>
            <c:idx val="1"/>
            <c:bubble3D val="0"/>
            <c:spPr>
              <a:solidFill>
                <a:schemeClr val="accent5"/>
              </a:solidFill>
              <a:ln w="19050">
                <a:noFill/>
              </a:ln>
              <a:effectLst/>
            </c:spPr>
            <c:extLst>
              <c:ext xmlns:c16="http://schemas.microsoft.com/office/drawing/2014/chart" uri="{C3380CC4-5D6E-409C-BE32-E72D297353CC}">
                <c16:uniqueId val="{00000003-275F-4C0A-BBA0-64BAC8E02D84}"/>
              </c:ext>
            </c:extLst>
          </c:dPt>
          <c:dPt>
            <c:idx val="2"/>
            <c:bubble3D val="0"/>
            <c:spPr>
              <a:solidFill>
                <a:schemeClr val="accent4"/>
              </a:solidFill>
              <a:ln w="19050">
                <a:noFill/>
              </a:ln>
              <a:effectLst/>
            </c:spPr>
            <c:extLst>
              <c:ext xmlns:c16="http://schemas.microsoft.com/office/drawing/2014/chart" uri="{C3380CC4-5D6E-409C-BE32-E72D297353CC}">
                <c16:uniqueId val="{00000005-275F-4C0A-BBA0-64BAC8E02D84}"/>
              </c:ext>
            </c:extLst>
          </c:dPt>
          <c:dPt>
            <c:idx val="3"/>
            <c:bubble3D val="0"/>
            <c:spPr>
              <a:solidFill>
                <a:schemeClr val="accent6"/>
              </a:solidFill>
              <a:ln w="19050">
                <a:noFill/>
              </a:ln>
              <a:effectLst/>
            </c:spPr>
            <c:extLst>
              <c:ext xmlns:c16="http://schemas.microsoft.com/office/drawing/2014/chart" uri="{C3380CC4-5D6E-409C-BE32-E72D297353CC}">
                <c16:uniqueId val="{00000007-275F-4C0A-BBA0-64BAC8E02D84}"/>
              </c:ext>
            </c:extLst>
          </c:dPt>
          <c:dPt>
            <c:idx val="4"/>
            <c:bubble3D val="0"/>
            <c:spPr>
              <a:solidFill>
                <a:schemeClr val="accent2"/>
              </a:solidFill>
              <a:ln w="19050">
                <a:noFill/>
              </a:ln>
              <a:effectLst/>
            </c:spPr>
            <c:extLst>
              <c:ext xmlns:c16="http://schemas.microsoft.com/office/drawing/2014/chart" uri="{C3380CC4-5D6E-409C-BE32-E72D297353CC}">
                <c16:uniqueId val="{00000009-275F-4C0A-BBA0-64BAC8E02D84}"/>
              </c:ext>
            </c:extLst>
          </c:dPt>
          <c:dPt>
            <c:idx val="5"/>
            <c:bubble3D val="0"/>
            <c:spPr>
              <a:solidFill>
                <a:schemeClr val="accent1">
                  <a:lumMod val="75000"/>
                </a:schemeClr>
              </a:solidFill>
              <a:ln w="19050">
                <a:noFill/>
              </a:ln>
              <a:effectLst/>
            </c:spPr>
            <c:extLst>
              <c:ext xmlns:c16="http://schemas.microsoft.com/office/drawing/2014/chart" uri="{C3380CC4-5D6E-409C-BE32-E72D297353CC}">
                <c16:uniqueId val="{0000000B-275F-4C0A-BBA0-64BAC8E02D84}"/>
              </c:ext>
            </c:extLst>
          </c:dPt>
          <c:dPt>
            <c:idx val="6"/>
            <c:bubble3D val="0"/>
            <c:spPr>
              <a:solidFill>
                <a:schemeClr val="accent1">
                  <a:lumMod val="50000"/>
                </a:schemeClr>
              </a:solidFill>
              <a:ln w="19050">
                <a:noFill/>
              </a:ln>
              <a:effectLst/>
            </c:spPr>
            <c:extLst>
              <c:ext xmlns:c16="http://schemas.microsoft.com/office/drawing/2014/chart" uri="{C3380CC4-5D6E-409C-BE32-E72D297353CC}">
                <c16:uniqueId val="{0000000D-275F-4C0A-BBA0-64BAC8E02D84}"/>
              </c:ext>
            </c:extLst>
          </c:dPt>
          <c:dPt>
            <c:idx val="7"/>
            <c:bubble3D val="0"/>
            <c:spPr>
              <a:solidFill>
                <a:schemeClr val="accent3">
                  <a:lumMod val="25000"/>
                  <a:lumOff val="75000"/>
                </a:schemeClr>
              </a:solidFill>
              <a:ln w="19050">
                <a:noFill/>
              </a:ln>
              <a:effectLst/>
            </c:spPr>
            <c:extLst>
              <c:ext xmlns:c16="http://schemas.microsoft.com/office/drawing/2014/chart" uri="{C3380CC4-5D6E-409C-BE32-E72D297353CC}">
                <c16:uniqueId val="{0000000F-275F-4C0A-BBA0-64BAC8E02D84}"/>
              </c:ext>
            </c:extLst>
          </c:dPt>
          <c:dPt>
            <c:idx val="8"/>
            <c:bubble3D val="0"/>
            <c:spPr>
              <a:solidFill>
                <a:schemeClr val="accent6">
                  <a:lumMod val="75000"/>
                </a:schemeClr>
              </a:solidFill>
              <a:ln w="19050">
                <a:noFill/>
              </a:ln>
              <a:effectLst/>
            </c:spPr>
            <c:extLst>
              <c:ext xmlns:c16="http://schemas.microsoft.com/office/drawing/2014/chart" uri="{C3380CC4-5D6E-409C-BE32-E72D297353CC}">
                <c16:uniqueId val="{00000011-275F-4C0A-BBA0-64BAC8E02D84}"/>
              </c:ext>
            </c:extLst>
          </c:dPt>
          <c:cat>
            <c:strRef>
              <c:f>Sheet1!$A$2:$A$10</c:f>
              <c:strCache>
                <c:ptCount val="4"/>
                <c:pt idx="0">
                  <c:v>1st Qtr</c:v>
                </c:pt>
                <c:pt idx="1">
                  <c:v>2nd Qtr</c:v>
                </c:pt>
                <c:pt idx="2">
                  <c:v>3rd Qtr</c:v>
                </c:pt>
                <c:pt idx="3">
                  <c:v>4th Qtr</c:v>
                </c:pt>
              </c:strCache>
            </c:strRef>
          </c:cat>
          <c:val>
            <c:numRef>
              <c:f>Sheet1!$B$2:$B$10</c:f>
              <c:numCache>
                <c:formatCode>General</c:formatCode>
                <c:ptCount val="9"/>
                <c:pt idx="0">
                  <c:v>24</c:v>
                </c:pt>
                <c:pt idx="1">
                  <c:v>20</c:v>
                </c:pt>
                <c:pt idx="2">
                  <c:v>2</c:v>
                </c:pt>
                <c:pt idx="3">
                  <c:v>21</c:v>
                </c:pt>
                <c:pt idx="4">
                  <c:v>4</c:v>
                </c:pt>
                <c:pt idx="5">
                  <c:v>28</c:v>
                </c:pt>
                <c:pt idx="6">
                  <c:v>2</c:v>
                </c:pt>
                <c:pt idx="7">
                  <c:v>8</c:v>
                </c:pt>
                <c:pt idx="8">
                  <c:v>3</c:v>
                </c:pt>
              </c:numCache>
            </c:numRef>
          </c:val>
          <c:extLst>
            <c:ext xmlns:c16="http://schemas.microsoft.com/office/drawing/2014/chart" uri="{C3380CC4-5D6E-409C-BE32-E72D297353CC}">
              <c16:uniqueId val="{00000012-275F-4C0A-BBA0-64BAC8E02D84}"/>
            </c:ext>
          </c:extLst>
        </c:ser>
        <c:dLbls>
          <c:showLegendKey val="0"/>
          <c:showVal val="0"/>
          <c:showCatName val="0"/>
          <c:showSerName val="0"/>
          <c:showPercent val="0"/>
          <c:showBubbleSize val="0"/>
          <c:showLeaderLines val="1"/>
        </c:dLbls>
        <c:firstSliceAng val="11"/>
        <c:holeSize val="71"/>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D6640C-F6A0-4351-856B-14836F234E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C280B7B-2795-4857-B84E-9C600536AE0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120AE1-5DBC-4417-A73B-5F29B67C532C}" type="datetimeFigureOut">
              <a:rPr lang="en-US" smtClean="0"/>
              <a:t>6/30/2026</a:t>
            </a:fld>
            <a:endParaRPr lang="en-US" dirty="0"/>
          </a:p>
        </p:txBody>
      </p:sp>
      <p:sp>
        <p:nvSpPr>
          <p:cNvPr id="4" name="Footer Placeholder 3">
            <a:extLst>
              <a:ext uri="{FF2B5EF4-FFF2-40B4-BE49-F238E27FC236}">
                <a16:creationId xmlns:a16="http://schemas.microsoft.com/office/drawing/2014/main" id="{96C3ACD6-6E00-4BE1-A684-34A6BD202E3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A7F20A5-CEF2-4B11-A0A4-0F4BC0BD647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C822411-A9A9-4A09-A341-69C657AB42A1}" type="slidenum">
              <a:rPr lang="en-US" smtClean="0"/>
              <a:t>‹#›</a:t>
            </a:fld>
            <a:endParaRPr lang="en-US" dirty="0"/>
          </a:p>
        </p:txBody>
      </p:sp>
    </p:spTree>
    <p:extLst>
      <p:ext uri="{BB962C8B-B14F-4D97-AF65-F5344CB8AC3E}">
        <p14:creationId xmlns:p14="http://schemas.microsoft.com/office/powerpoint/2010/main" val="6558888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16A9CD-5E57-4C86-B862-09CA519924BA}" type="datetimeFigureOut">
              <a:rPr lang="en-US" smtClean="0"/>
              <a:t>6/30/2026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A004F4-F240-48F9-8AE1-486585C7F00D}" type="slidenum">
              <a:rPr lang="en-US" smtClean="0"/>
              <a:t>‹#›</a:t>
            </a:fld>
            <a:endParaRPr lang="en-US" dirty="0"/>
          </a:p>
        </p:txBody>
      </p:sp>
    </p:spTree>
    <p:extLst>
      <p:ext uri="{BB962C8B-B14F-4D97-AF65-F5344CB8AC3E}">
        <p14:creationId xmlns:p14="http://schemas.microsoft.com/office/powerpoint/2010/main" val="2154881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a:t>
            </a:fld>
            <a:endParaRPr lang="en-US" dirty="0"/>
          </a:p>
        </p:txBody>
      </p:sp>
    </p:spTree>
    <p:extLst>
      <p:ext uri="{BB962C8B-B14F-4D97-AF65-F5344CB8AC3E}">
        <p14:creationId xmlns:p14="http://schemas.microsoft.com/office/powerpoint/2010/main" val="3140170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2</a:t>
            </a:fld>
            <a:endParaRPr lang="en-US" dirty="0"/>
          </a:p>
        </p:txBody>
      </p:sp>
    </p:spTree>
    <p:extLst>
      <p:ext uri="{BB962C8B-B14F-4D97-AF65-F5344CB8AC3E}">
        <p14:creationId xmlns:p14="http://schemas.microsoft.com/office/powerpoint/2010/main" val="2261939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4</a:t>
            </a:fld>
            <a:endParaRPr lang="en-US" dirty="0"/>
          </a:p>
        </p:txBody>
      </p:sp>
    </p:spTree>
    <p:extLst>
      <p:ext uri="{BB962C8B-B14F-4D97-AF65-F5344CB8AC3E}">
        <p14:creationId xmlns:p14="http://schemas.microsoft.com/office/powerpoint/2010/main" val="5284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5</a:t>
            </a:fld>
            <a:endParaRPr lang="en-US" dirty="0"/>
          </a:p>
        </p:txBody>
      </p:sp>
    </p:spTree>
    <p:extLst>
      <p:ext uri="{BB962C8B-B14F-4D97-AF65-F5344CB8AC3E}">
        <p14:creationId xmlns:p14="http://schemas.microsoft.com/office/powerpoint/2010/main" val="3762868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6</a:t>
            </a:fld>
            <a:endParaRPr lang="en-US" dirty="0"/>
          </a:p>
        </p:txBody>
      </p:sp>
    </p:spTree>
    <p:extLst>
      <p:ext uri="{BB962C8B-B14F-4D97-AF65-F5344CB8AC3E}">
        <p14:creationId xmlns:p14="http://schemas.microsoft.com/office/powerpoint/2010/main" val="2868485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7</a:t>
            </a:fld>
            <a:endParaRPr lang="en-US" dirty="0"/>
          </a:p>
        </p:txBody>
      </p:sp>
    </p:spTree>
    <p:extLst>
      <p:ext uri="{BB962C8B-B14F-4D97-AF65-F5344CB8AC3E}">
        <p14:creationId xmlns:p14="http://schemas.microsoft.com/office/powerpoint/2010/main" val="2221293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8</a:t>
            </a:fld>
            <a:endParaRPr lang="en-US" dirty="0"/>
          </a:p>
        </p:txBody>
      </p:sp>
    </p:spTree>
    <p:extLst>
      <p:ext uri="{BB962C8B-B14F-4D97-AF65-F5344CB8AC3E}">
        <p14:creationId xmlns:p14="http://schemas.microsoft.com/office/powerpoint/2010/main" val="2744192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9</a:t>
            </a:fld>
            <a:endParaRPr lang="en-US" dirty="0"/>
          </a:p>
        </p:txBody>
      </p:sp>
    </p:spTree>
    <p:extLst>
      <p:ext uri="{BB962C8B-B14F-4D97-AF65-F5344CB8AC3E}">
        <p14:creationId xmlns:p14="http://schemas.microsoft.com/office/powerpoint/2010/main" val="1889561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10</a:t>
            </a:fld>
            <a:endParaRPr lang="en-US" dirty="0"/>
          </a:p>
        </p:txBody>
      </p:sp>
    </p:spTree>
    <p:extLst>
      <p:ext uri="{BB962C8B-B14F-4D97-AF65-F5344CB8AC3E}">
        <p14:creationId xmlns:p14="http://schemas.microsoft.com/office/powerpoint/2010/main" val="2089699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11</a:t>
            </a:fld>
            <a:endParaRPr lang="en-US" dirty="0"/>
          </a:p>
        </p:txBody>
      </p:sp>
    </p:spTree>
    <p:extLst>
      <p:ext uri="{BB962C8B-B14F-4D97-AF65-F5344CB8AC3E}">
        <p14:creationId xmlns:p14="http://schemas.microsoft.com/office/powerpoint/2010/main" val="27242243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12</a:t>
            </a:fld>
            <a:endParaRPr lang="en-US" dirty="0"/>
          </a:p>
        </p:txBody>
      </p:sp>
    </p:spTree>
    <p:extLst>
      <p:ext uri="{BB962C8B-B14F-4D97-AF65-F5344CB8AC3E}">
        <p14:creationId xmlns:p14="http://schemas.microsoft.com/office/powerpoint/2010/main" val="2263866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7D165-49B0-44FF-A267-367F5A6EE306}"/>
              </a:ext>
            </a:extLst>
          </p:cNvPr>
          <p:cNvSpPr>
            <a:spLocks noGrp="1"/>
          </p:cNvSpPr>
          <p:nvPr>
            <p:ph type="ctrTitle"/>
          </p:nvPr>
        </p:nvSpPr>
        <p:spPr>
          <a:xfrm>
            <a:off x="1524000" y="2039514"/>
            <a:ext cx="9144000" cy="2128049"/>
          </a:xfrm>
        </p:spPr>
        <p:txBody>
          <a:bodyPr anchor="b"/>
          <a:lstStyle>
            <a:lvl1pPr algn="ctr">
              <a:lnSpc>
                <a:spcPct val="125000"/>
              </a:lnSpc>
              <a:defRPr sz="6000">
                <a:solidFill>
                  <a:schemeClr val="bg1"/>
                </a:solidFill>
              </a:defRPr>
            </a:lvl1pPr>
          </a:lstStyle>
          <a:p>
            <a:r>
              <a:rPr lang="en-US" noProof="0"/>
              <a:t>Click to edit Master title style</a:t>
            </a:r>
          </a:p>
        </p:txBody>
      </p:sp>
      <p:sp>
        <p:nvSpPr>
          <p:cNvPr id="3" name="Subtitle 2">
            <a:extLst>
              <a:ext uri="{FF2B5EF4-FFF2-40B4-BE49-F238E27FC236}">
                <a16:creationId xmlns:a16="http://schemas.microsoft.com/office/drawing/2014/main" id="{56B52800-74D6-4A78-AC9B-8E737A1A3B0D}"/>
              </a:ext>
            </a:extLst>
          </p:cNvPr>
          <p:cNvSpPr>
            <a:spLocks noGrp="1"/>
          </p:cNvSpPr>
          <p:nvPr>
            <p:ph type="subTitle" idx="1"/>
          </p:nvPr>
        </p:nvSpPr>
        <p:spPr>
          <a:xfrm>
            <a:off x="1524000" y="4221162"/>
            <a:ext cx="9144000" cy="882001"/>
          </a:xfrm>
          <a:solidFill>
            <a:schemeClr val="accent2">
              <a:alpha val="90000"/>
            </a:schemeClr>
          </a:solidFill>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500" b="1" i="1" kern="1200" spc="65" dirty="0">
                <a:solidFill>
                  <a:schemeClr val="accent1"/>
                </a:solidFill>
                <a:latin typeface="Arial"/>
                <a:ea typeface="+mn-ea"/>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8B91F7B-C4AF-4FC6-A6BE-657DEF6D5358}"/>
              </a:ext>
            </a:extLst>
          </p:cNvPr>
          <p:cNvSpPr>
            <a:spLocks noGrp="1"/>
          </p:cNvSpPr>
          <p:nvPr>
            <p:ph type="dt" sz="half" idx="10"/>
          </p:nvPr>
        </p:nvSpPr>
        <p:spPr/>
        <p:txBody>
          <a:bodyPr/>
          <a:lstStyle/>
          <a:p>
            <a:fld id="{8DA08ED5-AEFE-4443-9040-726EF6690995}" type="datetime1">
              <a:rPr lang="en-US" smtClean="0"/>
              <a:t>6/30/2026</a:t>
            </a:fld>
            <a:endParaRPr lang="en-US" dirty="0"/>
          </a:p>
        </p:txBody>
      </p:sp>
      <p:sp>
        <p:nvSpPr>
          <p:cNvPr id="5" name="Footer Placeholder 4">
            <a:extLst>
              <a:ext uri="{FF2B5EF4-FFF2-40B4-BE49-F238E27FC236}">
                <a16:creationId xmlns:a16="http://schemas.microsoft.com/office/drawing/2014/main" id="{5BED32F8-B0C7-4332-B0A5-BC19DD8C4C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0030946-D0C7-4F78-94B0-427DAA6D5CB0}"/>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189509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11141-A77D-4E0E-8CAF-4CD3B279937B}"/>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017EFDE0-5A54-402A-B0C3-6BC0BB739C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2825AD-4585-4E37-A076-3D0070C9300C}"/>
              </a:ext>
            </a:extLst>
          </p:cNvPr>
          <p:cNvSpPr>
            <a:spLocks noGrp="1"/>
          </p:cNvSpPr>
          <p:nvPr>
            <p:ph type="dt" sz="half" idx="10"/>
          </p:nvPr>
        </p:nvSpPr>
        <p:spPr/>
        <p:txBody>
          <a:bodyPr/>
          <a:lstStyle/>
          <a:p>
            <a:fld id="{0312561F-7E45-400C-8758-912CDFE9410A}" type="datetime1">
              <a:rPr lang="en-US" smtClean="0"/>
              <a:t>6/30/2026</a:t>
            </a:fld>
            <a:endParaRPr lang="en-US" dirty="0"/>
          </a:p>
        </p:txBody>
      </p:sp>
      <p:sp>
        <p:nvSpPr>
          <p:cNvPr id="5" name="Footer Placeholder 4">
            <a:extLst>
              <a:ext uri="{FF2B5EF4-FFF2-40B4-BE49-F238E27FC236}">
                <a16:creationId xmlns:a16="http://schemas.microsoft.com/office/drawing/2014/main" id="{512064AD-EDC3-4B13-8CD6-49EB60099ED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890FD1E-16F6-49B1-A938-8CE601ED7AFC}"/>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3325465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FA988-92AD-48D7-890A-AA0540961D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A999FA-A189-41DB-9CFC-D1356C5343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4D83DC-20E7-4B71-9794-36FC33B1BA03}"/>
              </a:ext>
            </a:extLst>
          </p:cNvPr>
          <p:cNvSpPr>
            <a:spLocks noGrp="1"/>
          </p:cNvSpPr>
          <p:nvPr>
            <p:ph type="dt" sz="half" idx="10"/>
          </p:nvPr>
        </p:nvSpPr>
        <p:spPr/>
        <p:txBody>
          <a:bodyPr/>
          <a:lstStyle/>
          <a:p>
            <a:fld id="{85E24BC7-4CDB-41D7-81AF-9CE8473FF4B8}" type="datetime1">
              <a:rPr lang="en-US" smtClean="0"/>
              <a:t>6/30/2026</a:t>
            </a:fld>
            <a:endParaRPr lang="en-US" dirty="0"/>
          </a:p>
        </p:txBody>
      </p:sp>
      <p:sp>
        <p:nvSpPr>
          <p:cNvPr id="5" name="Footer Placeholder 4">
            <a:extLst>
              <a:ext uri="{FF2B5EF4-FFF2-40B4-BE49-F238E27FC236}">
                <a16:creationId xmlns:a16="http://schemas.microsoft.com/office/drawing/2014/main" id="{44E7D103-1290-4592-B37C-19C9C9DBEA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5955B1B-4A5C-42C7-99A5-B8217736F178}"/>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193320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E60EB58-EF7E-435A-8B07-B5BCF3AF119F}"/>
              </a:ext>
            </a:extLst>
          </p:cNvPr>
          <p:cNvSpPr>
            <a:spLocks noGrp="1"/>
          </p:cNvSpPr>
          <p:nvPr>
            <p:ph type="sldNum" sz="quarter" idx="12"/>
          </p:nvPr>
        </p:nvSpPr>
        <p:spPr/>
        <p:txBody>
          <a:bodyPr/>
          <a:lstStyle/>
          <a:p>
            <a:fld id="{82EE24B5-652C-4DB5-B7C3-B5BBEC1280B1}" type="slidenum">
              <a:rPr lang="en-US" smtClean="0"/>
              <a:t>‹#›</a:t>
            </a:fld>
            <a:endParaRPr lang="en-US" dirty="0"/>
          </a:p>
        </p:txBody>
      </p:sp>
      <p:sp>
        <p:nvSpPr>
          <p:cNvPr id="2" name="Title 1">
            <a:extLst>
              <a:ext uri="{FF2B5EF4-FFF2-40B4-BE49-F238E27FC236}">
                <a16:creationId xmlns:a16="http://schemas.microsoft.com/office/drawing/2014/main" id="{E7F76098-6FA1-470A-BEF4-E4B0AC75E8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647ABC-6745-43B6-8A64-6E191BD65CA2}"/>
              </a:ext>
            </a:extLst>
          </p:cNvPr>
          <p:cNvSpPr>
            <a:spLocks noGrp="1"/>
          </p:cNvSpPr>
          <p:nvPr>
            <p:ph sz="half" idx="1"/>
          </p:nvPr>
        </p:nvSpPr>
        <p:spPr>
          <a:xfrm>
            <a:off x="838200" y="1825625"/>
            <a:ext cx="5181600"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a:extLst>
              <a:ext uri="{FF2B5EF4-FFF2-40B4-BE49-F238E27FC236}">
                <a16:creationId xmlns:a16="http://schemas.microsoft.com/office/drawing/2014/main" id="{E4387105-2538-4216-9A7E-445FA092F9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F57DE0-C032-4FCC-9006-09C2C328A665}"/>
              </a:ext>
            </a:extLst>
          </p:cNvPr>
          <p:cNvSpPr>
            <a:spLocks noGrp="1"/>
          </p:cNvSpPr>
          <p:nvPr>
            <p:ph type="dt" sz="half" idx="10"/>
          </p:nvPr>
        </p:nvSpPr>
        <p:spPr/>
        <p:txBody>
          <a:bodyPr/>
          <a:lstStyle/>
          <a:p>
            <a:fld id="{397CD216-73DE-4B96-8E1B-BB64D86142BB}" type="datetime1">
              <a:rPr lang="en-US" smtClean="0"/>
              <a:t>6/30/2026</a:t>
            </a:fld>
            <a:endParaRPr lang="en-US" dirty="0"/>
          </a:p>
        </p:txBody>
      </p:sp>
      <p:sp>
        <p:nvSpPr>
          <p:cNvPr id="6" name="Footer Placeholder 5">
            <a:extLst>
              <a:ext uri="{FF2B5EF4-FFF2-40B4-BE49-F238E27FC236}">
                <a16:creationId xmlns:a16="http://schemas.microsoft.com/office/drawing/2014/main" id="{90C776CB-2819-4488-9012-A6EA22079A47}"/>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325036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43C73-1D0F-45F9-A7E4-E9D24EAFDE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B88E76-F6AB-4621-A9A6-20A81C5A3F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313FB9-6D6C-4F61-9E7A-76E686D06C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A93A737-E48B-4909-BE04-F55B581032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F9958C-DB5F-444E-ACE8-73F5E0CA67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D097D1-3052-4C1F-B573-CA25FFF6CCB5}"/>
              </a:ext>
            </a:extLst>
          </p:cNvPr>
          <p:cNvSpPr>
            <a:spLocks noGrp="1"/>
          </p:cNvSpPr>
          <p:nvPr>
            <p:ph type="dt" sz="half" idx="10"/>
          </p:nvPr>
        </p:nvSpPr>
        <p:spPr/>
        <p:txBody>
          <a:bodyPr/>
          <a:lstStyle/>
          <a:p>
            <a:fld id="{C6A5CD8C-7FEF-4E71-8EB9-D3BA6E2E3E9E}" type="datetime1">
              <a:rPr lang="en-US" smtClean="0"/>
              <a:t>6/30/2026</a:t>
            </a:fld>
            <a:endParaRPr lang="en-US" dirty="0"/>
          </a:p>
        </p:txBody>
      </p:sp>
      <p:sp>
        <p:nvSpPr>
          <p:cNvPr id="8" name="Footer Placeholder 7">
            <a:extLst>
              <a:ext uri="{FF2B5EF4-FFF2-40B4-BE49-F238E27FC236}">
                <a16:creationId xmlns:a16="http://schemas.microsoft.com/office/drawing/2014/main" id="{F2607AC3-2220-4DDA-A22A-C404538FE48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FD8DEB3-F122-4B42-9E12-F61189B878B2}"/>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4032769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89EF5-3FD9-4423-A9E8-B67B4E902E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0D7191-31B4-440E-A4E9-F412FA55824C}"/>
              </a:ext>
            </a:extLst>
          </p:cNvPr>
          <p:cNvSpPr>
            <a:spLocks noGrp="1"/>
          </p:cNvSpPr>
          <p:nvPr>
            <p:ph type="dt" sz="half" idx="10"/>
          </p:nvPr>
        </p:nvSpPr>
        <p:spPr/>
        <p:txBody>
          <a:bodyPr/>
          <a:lstStyle/>
          <a:p>
            <a:fld id="{4BE4379E-9B58-41EA-B928-5B1C8436A60E}" type="datetime1">
              <a:rPr lang="en-US" smtClean="0"/>
              <a:t>6/30/2026</a:t>
            </a:fld>
            <a:endParaRPr lang="en-US" dirty="0"/>
          </a:p>
        </p:txBody>
      </p:sp>
      <p:sp>
        <p:nvSpPr>
          <p:cNvPr id="4" name="Footer Placeholder 3">
            <a:extLst>
              <a:ext uri="{FF2B5EF4-FFF2-40B4-BE49-F238E27FC236}">
                <a16:creationId xmlns:a16="http://schemas.microsoft.com/office/drawing/2014/main" id="{8EC85CB6-0880-4BF0-8E98-291E70C7137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E4A5E74-F26F-4C7A-BED1-6EE66C0B3A54}"/>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3691903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55C546-684A-45B9-8890-66DC55DF7D06}"/>
              </a:ext>
            </a:extLst>
          </p:cNvPr>
          <p:cNvSpPr>
            <a:spLocks noGrp="1"/>
          </p:cNvSpPr>
          <p:nvPr>
            <p:ph type="dt" sz="half" idx="10"/>
          </p:nvPr>
        </p:nvSpPr>
        <p:spPr/>
        <p:txBody>
          <a:bodyPr/>
          <a:lstStyle/>
          <a:p>
            <a:fld id="{40B0A371-51FE-4D99-BD87-6A650FCE519D}" type="datetime1">
              <a:rPr lang="en-US" smtClean="0"/>
              <a:t>6/30/2026</a:t>
            </a:fld>
            <a:endParaRPr lang="en-US" dirty="0"/>
          </a:p>
        </p:txBody>
      </p:sp>
      <p:sp>
        <p:nvSpPr>
          <p:cNvPr id="3" name="Footer Placeholder 2">
            <a:extLst>
              <a:ext uri="{FF2B5EF4-FFF2-40B4-BE49-F238E27FC236}">
                <a16:creationId xmlns:a16="http://schemas.microsoft.com/office/drawing/2014/main" id="{4543EBDF-D696-42F7-B962-56F5FEE120C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789D77E-1675-4F9D-9113-B274CB0E87FA}"/>
              </a:ext>
            </a:extLst>
          </p:cNvPr>
          <p:cNvSpPr>
            <a:spLocks noGrp="1"/>
          </p:cNvSpPr>
          <p:nvPr>
            <p:ph type="sldNum" sz="quarter" idx="12"/>
          </p:nvPr>
        </p:nvSpPr>
        <p:spPr/>
        <p:txBody>
          <a:bodyPr/>
          <a:lstStyle/>
          <a:p>
            <a:fld id="{82EE24B5-652C-4DB5-B7C3-B5BBEC1280B1}" type="slidenum">
              <a:rPr lang="en-US" noProof="0" smtClean="0"/>
              <a:t>‹#›</a:t>
            </a:fld>
            <a:endParaRPr lang="en-US" noProof="0"/>
          </a:p>
        </p:txBody>
      </p:sp>
    </p:spTree>
    <p:extLst>
      <p:ext uri="{BB962C8B-B14F-4D97-AF65-F5344CB8AC3E}">
        <p14:creationId xmlns:p14="http://schemas.microsoft.com/office/powerpoint/2010/main" val="274602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E9C90-06AB-49B5-9970-F5791DE93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FB0071-932D-4CA0-92FB-A6E75AC855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C8D9F5-8B70-4BDD-9CB5-BBF87CF553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89DE91-7A80-4682-9D32-2CD41DEFB7B2}"/>
              </a:ext>
            </a:extLst>
          </p:cNvPr>
          <p:cNvSpPr>
            <a:spLocks noGrp="1"/>
          </p:cNvSpPr>
          <p:nvPr>
            <p:ph type="dt" sz="half" idx="10"/>
          </p:nvPr>
        </p:nvSpPr>
        <p:spPr/>
        <p:txBody>
          <a:bodyPr/>
          <a:lstStyle/>
          <a:p>
            <a:fld id="{5FCF8CFF-A1C0-4B6C-AA8D-BE72CB14468D}" type="datetime1">
              <a:rPr lang="en-US" smtClean="0"/>
              <a:t>6/30/2026</a:t>
            </a:fld>
            <a:endParaRPr lang="en-US" dirty="0"/>
          </a:p>
        </p:txBody>
      </p:sp>
      <p:sp>
        <p:nvSpPr>
          <p:cNvPr id="6" name="Footer Placeholder 5">
            <a:extLst>
              <a:ext uri="{FF2B5EF4-FFF2-40B4-BE49-F238E27FC236}">
                <a16:creationId xmlns:a16="http://schemas.microsoft.com/office/drawing/2014/main" id="{7B9E2482-2E7D-4868-95A7-4A55B40FEC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F4E84CF-C3E5-4475-84C7-21CBAC064B74}"/>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962625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0E0AA-5363-4861-AB6B-0E4D34D74B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44B7CE-2038-4CCA-AA8A-D03DE5FD95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A79774D-36EB-4201-B1AC-922DD2E066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D1E234-1CB2-41A0-B40D-7E7F160CBA11}"/>
              </a:ext>
            </a:extLst>
          </p:cNvPr>
          <p:cNvSpPr>
            <a:spLocks noGrp="1"/>
          </p:cNvSpPr>
          <p:nvPr>
            <p:ph type="dt" sz="half" idx="10"/>
          </p:nvPr>
        </p:nvSpPr>
        <p:spPr/>
        <p:txBody>
          <a:bodyPr/>
          <a:lstStyle/>
          <a:p>
            <a:fld id="{8C6D634D-0427-413D-A0D0-098959D06FEF}" type="datetime1">
              <a:rPr lang="en-US" smtClean="0"/>
              <a:t>6/30/2026</a:t>
            </a:fld>
            <a:endParaRPr lang="en-US" dirty="0"/>
          </a:p>
        </p:txBody>
      </p:sp>
      <p:sp>
        <p:nvSpPr>
          <p:cNvPr id="6" name="Footer Placeholder 5">
            <a:extLst>
              <a:ext uri="{FF2B5EF4-FFF2-40B4-BE49-F238E27FC236}">
                <a16:creationId xmlns:a16="http://schemas.microsoft.com/office/drawing/2014/main" id="{99FD472E-6334-4051-B4D9-6361A819F79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2384B9-6290-4070-B7D1-A105B27F0CB0}"/>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367443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wo Horisontal Content">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E4FD2CFF-0F3D-42BB-BBFF-903727B32640}"/>
              </a:ext>
            </a:extLst>
          </p:cNvPr>
          <p:cNvSpPr/>
          <p:nvPr userDrawn="1"/>
        </p:nvSpPr>
        <p:spPr>
          <a:xfrm>
            <a:off x="0" y="1562188"/>
            <a:ext cx="11269980" cy="2359660"/>
          </a:xfrm>
          <a:custGeom>
            <a:avLst/>
            <a:gdLst/>
            <a:ahLst/>
            <a:cxnLst/>
            <a:rect l="l" t="t" r="r" b="b"/>
            <a:pathLst>
              <a:path w="11269980" h="2359660">
                <a:moveTo>
                  <a:pt x="0" y="2359152"/>
                </a:moveTo>
                <a:lnTo>
                  <a:pt x="11269980" y="2359152"/>
                </a:lnTo>
                <a:lnTo>
                  <a:pt x="11269980" y="0"/>
                </a:lnTo>
                <a:lnTo>
                  <a:pt x="0" y="0"/>
                </a:lnTo>
                <a:lnTo>
                  <a:pt x="0" y="2359152"/>
                </a:lnTo>
                <a:close/>
              </a:path>
            </a:pathLst>
          </a:custGeom>
          <a:solidFill>
            <a:schemeClr val="accent2"/>
          </a:solidFill>
        </p:spPr>
        <p:txBody>
          <a:bodyPr wrap="square" lIns="0" tIns="0" rIns="0" bIns="0" rtlCol="0"/>
          <a:lstStyle/>
          <a:p>
            <a:endParaRPr lang="en-US" noProof="0" dirty="0"/>
          </a:p>
        </p:txBody>
      </p:sp>
      <p:sp>
        <p:nvSpPr>
          <p:cNvPr id="7" name="Slide Number Placeholder 6">
            <a:extLst>
              <a:ext uri="{FF2B5EF4-FFF2-40B4-BE49-F238E27FC236}">
                <a16:creationId xmlns:a16="http://schemas.microsoft.com/office/drawing/2014/main" id="{4E60EB58-EF7E-435A-8B07-B5BCF3AF119F}"/>
              </a:ext>
            </a:extLst>
          </p:cNvPr>
          <p:cNvSpPr>
            <a:spLocks noGrp="1"/>
          </p:cNvSpPr>
          <p:nvPr>
            <p:ph type="sldNum" sz="quarter" idx="12"/>
          </p:nvPr>
        </p:nvSpPr>
        <p:spPr/>
        <p:txBody>
          <a:bodyPr/>
          <a:lstStyle/>
          <a:p>
            <a:fld id="{82EE24B5-652C-4DB5-B7C3-B5BBEC1280B1}" type="slidenum">
              <a:rPr lang="en-US" smtClean="0"/>
              <a:t>‹#›</a:t>
            </a:fld>
            <a:endParaRPr lang="en-US" dirty="0"/>
          </a:p>
        </p:txBody>
      </p:sp>
      <p:sp>
        <p:nvSpPr>
          <p:cNvPr id="2" name="Title 1">
            <a:extLst>
              <a:ext uri="{FF2B5EF4-FFF2-40B4-BE49-F238E27FC236}">
                <a16:creationId xmlns:a16="http://schemas.microsoft.com/office/drawing/2014/main" id="{E7F76098-6FA1-470A-BEF4-E4B0AC75E8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647ABC-6745-43B6-8A64-6E191BD65CA2}"/>
              </a:ext>
            </a:extLst>
          </p:cNvPr>
          <p:cNvSpPr>
            <a:spLocks noGrp="1"/>
          </p:cNvSpPr>
          <p:nvPr>
            <p:ph sz="half" idx="1"/>
          </p:nvPr>
        </p:nvSpPr>
        <p:spPr>
          <a:xfrm>
            <a:off x="838200" y="4133087"/>
            <a:ext cx="10431780" cy="2043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F57DE0-C032-4FCC-9006-09C2C328A665}"/>
              </a:ext>
            </a:extLst>
          </p:cNvPr>
          <p:cNvSpPr>
            <a:spLocks noGrp="1"/>
          </p:cNvSpPr>
          <p:nvPr>
            <p:ph type="dt" sz="half" idx="10"/>
          </p:nvPr>
        </p:nvSpPr>
        <p:spPr/>
        <p:txBody>
          <a:bodyPr/>
          <a:lstStyle/>
          <a:p>
            <a:fld id="{397CD216-73DE-4B96-8E1B-BB64D86142BB}" type="datetime1">
              <a:rPr lang="en-US" smtClean="0"/>
              <a:t>6/30/2026</a:t>
            </a:fld>
            <a:endParaRPr lang="en-US" dirty="0"/>
          </a:p>
        </p:txBody>
      </p:sp>
      <p:sp>
        <p:nvSpPr>
          <p:cNvPr id="6" name="Footer Placeholder 5">
            <a:extLst>
              <a:ext uri="{FF2B5EF4-FFF2-40B4-BE49-F238E27FC236}">
                <a16:creationId xmlns:a16="http://schemas.microsoft.com/office/drawing/2014/main" id="{90C776CB-2819-4488-9012-A6EA22079A47}"/>
              </a:ext>
            </a:extLst>
          </p:cNvPr>
          <p:cNvSpPr>
            <a:spLocks noGrp="1"/>
          </p:cNvSpPr>
          <p:nvPr>
            <p:ph type="ftr" sz="quarter" idx="11"/>
          </p:nvPr>
        </p:nvSpPr>
        <p:spPr/>
        <p:txBody>
          <a:bodyPr/>
          <a:lstStyle/>
          <a:p>
            <a:endParaRPr lang="en-US" dirty="0"/>
          </a:p>
        </p:txBody>
      </p:sp>
      <p:sp>
        <p:nvSpPr>
          <p:cNvPr id="9" name="Content Placeholder 3">
            <a:extLst>
              <a:ext uri="{FF2B5EF4-FFF2-40B4-BE49-F238E27FC236}">
                <a16:creationId xmlns:a16="http://schemas.microsoft.com/office/drawing/2014/main" id="{C1B0D46C-2987-401A-A0C4-CFB6F73E9D23}"/>
              </a:ext>
            </a:extLst>
          </p:cNvPr>
          <p:cNvSpPr>
            <a:spLocks noGrp="1"/>
          </p:cNvSpPr>
          <p:nvPr>
            <p:ph sz="half" idx="13"/>
          </p:nvPr>
        </p:nvSpPr>
        <p:spPr>
          <a:xfrm>
            <a:off x="844296" y="1788579"/>
            <a:ext cx="10425684" cy="190687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38197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Pictures with caption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D44B7CE-2038-4CCA-AA8A-D03DE5FD956E}"/>
              </a:ext>
            </a:extLst>
          </p:cNvPr>
          <p:cNvSpPr>
            <a:spLocks noGrp="1"/>
          </p:cNvSpPr>
          <p:nvPr>
            <p:ph type="pic" idx="1"/>
          </p:nvPr>
        </p:nvSpPr>
        <p:spPr>
          <a:xfrm>
            <a:off x="0" y="0"/>
            <a:ext cx="12192000" cy="6857999"/>
          </a:xfrm>
        </p:spPr>
        <p:txBody>
          <a:bodyPr>
            <a:normAutofit/>
          </a:bodyPr>
          <a:lstStyle>
            <a:lvl1pPr marL="0" indent="0" algn="ctr">
              <a:buNone/>
              <a:defRPr sz="2000">
                <a:solidFill>
                  <a:schemeClr val="bg2">
                    <a:lumMod val="20000"/>
                    <a:lumOff val="8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11" name="Oval 10">
            <a:extLst>
              <a:ext uri="{FF2B5EF4-FFF2-40B4-BE49-F238E27FC236}">
                <a16:creationId xmlns:a16="http://schemas.microsoft.com/office/drawing/2014/main" id="{98AB8B54-69CD-4C57-8DBB-02A0E09851DD}"/>
              </a:ext>
            </a:extLst>
          </p:cNvPr>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690E0AA-5363-4861-AB6B-0E4D34D74B92}"/>
              </a:ext>
            </a:extLst>
          </p:cNvPr>
          <p:cNvSpPr>
            <a:spLocks noGrp="1"/>
          </p:cNvSpPr>
          <p:nvPr>
            <p:ph type="title"/>
          </p:nvPr>
        </p:nvSpPr>
        <p:spPr>
          <a:xfrm>
            <a:off x="839788" y="417362"/>
            <a:ext cx="3932237" cy="1302111"/>
          </a:xfrm>
        </p:spPr>
        <p:txBody>
          <a:bodyPr anchor="t" anchorCtr="0"/>
          <a:lstStyle>
            <a:lvl1pPr>
              <a:defRPr sz="3200"/>
            </a:lvl1pPr>
          </a:lstStyle>
          <a:p>
            <a:r>
              <a:rPr lang="en-US" noProof="0"/>
              <a:t>Click to edit Master title style</a:t>
            </a:r>
          </a:p>
        </p:txBody>
      </p:sp>
      <p:sp>
        <p:nvSpPr>
          <p:cNvPr id="4" name="Text Placeholder 3">
            <a:extLst>
              <a:ext uri="{FF2B5EF4-FFF2-40B4-BE49-F238E27FC236}">
                <a16:creationId xmlns:a16="http://schemas.microsoft.com/office/drawing/2014/main" id="{EA79774D-36EB-4201-B1AC-922DD2E06640}"/>
              </a:ext>
            </a:extLst>
          </p:cNvPr>
          <p:cNvSpPr>
            <a:spLocks noGrp="1"/>
          </p:cNvSpPr>
          <p:nvPr>
            <p:ph type="body" sz="half" idx="2"/>
          </p:nvPr>
        </p:nvSpPr>
        <p:spPr>
          <a:xfrm>
            <a:off x="1552419" y="1887801"/>
            <a:ext cx="4057961" cy="1431234"/>
          </a:xfrm>
        </p:spPr>
        <p:txBody>
          <a:bodyPr>
            <a:normAutofit/>
          </a:bodyPr>
          <a:lstStyle>
            <a:lvl1pPr marL="0" indent="0">
              <a:buNone/>
              <a:defRPr sz="2000">
                <a:solidFill>
                  <a:schemeClr val="bg2">
                    <a:lumMod val="20000"/>
                    <a:lumOff val="8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D1E234-1CB2-41A0-B40D-7E7F160CBA11}"/>
              </a:ext>
            </a:extLst>
          </p:cNvPr>
          <p:cNvSpPr>
            <a:spLocks noGrp="1"/>
          </p:cNvSpPr>
          <p:nvPr>
            <p:ph type="dt" sz="half" idx="10"/>
          </p:nvPr>
        </p:nvSpPr>
        <p:spPr/>
        <p:txBody>
          <a:bodyPr/>
          <a:lstStyle/>
          <a:p>
            <a:fld id="{8C6D634D-0427-413D-A0D0-098959D06FEF}" type="datetime1">
              <a:rPr lang="en-US" smtClean="0"/>
              <a:t>6/30/2026</a:t>
            </a:fld>
            <a:endParaRPr lang="en-US" dirty="0"/>
          </a:p>
        </p:txBody>
      </p:sp>
      <p:sp>
        <p:nvSpPr>
          <p:cNvPr id="6" name="Footer Placeholder 5">
            <a:extLst>
              <a:ext uri="{FF2B5EF4-FFF2-40B4-BE49-F238E27FC236}">
                <a16:creationId xmlns:a16="http://schemas.microsoft.com/office/drawing/2014/main" id="{99FD472E-6334-4051-B4D9-6361A819F79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2384B9-6290-4070-B7D1-A105B27F0CB0}"/>
              </a:ext>
            </a:extLst>
          </p:cNvPr>
          <p:cNvSpPr>
            <a:spLocks noGrp="1"/>
          </p:cNvSpPr>
          <p:nvPr>
            <p:ph type="sldNum" sz="quarter" idx="12"/>
          </p:nvPr>
        </p:nvSpPr>
        <p:spPr/>
        <p:txBody>
          <a:bodyPr/>
          <a:lstStyle/>
          <a:p>
            <a:fld id="{82EE24B5-652C-4DB5-B7C3-B5BBEC1280B1}" type="slidenum">
              <a:rPr lang="en-US" smtClean="0"/>
              <a:t>‹#›</a:t>
            </a:fld>
            <a:endParaRPr lang="en-US" dirty="0"/>
          </a:p>
        </p:txBody>
      </p:sp>
      <p:sp>
        <p:nvSpPr>
          <p:cNvPr id="12" name="Picture Placeholder 28">
            <a:extLst>
              <a:ext uri="{FF2B5EF4-FFF2-40B4-BE49-F238E27FC236}">
                <a16:creationId xmlns:a16="http://schemas.microsoft.com/office/drawing/2014/main" id="{2EB2F967-97B6-4CA8-B3E7-5FF7CA2BDD8C}"/>
              </a:ext>
            </a:extLst>
          </p:cNvPr>
          <p:cNvSpPr>
            <a:spLocks noGrp="1"/>
          </p:cNvSpPr>
          <p:nvPr>
            <p:ph type="pic" sz="quarter" idx="19"/>
          </p:nvPr>
        </p:nvSpPr>
        <p:spPr>
          <a:xfrm>
            <a:off x="844273" y="1883115"/>
            <a:ext cx="576000" cy="576000"/>
          </a:xfrm>
        </p:spPr>
        <p:txBody>
          <a:bodyPr>
            <a:normAutofit/>
          </a:bodyPr>
          <a:lstStyle>
            <a:lvl1pPr marL="0" indent="0" algn="ctr">
              <a:buNone/>
              <a:defRPr sz="400"/>
            </a:lvl1pPr>
          </a:lstStyle>
          <a:p>
            <a:r>
              <a:rPr lang="en-US"/>
              <a:t>Click icon to add picture</a:t>
            </a:r>
            <a:endParaRPr lang="en-US" dirty="0"/>
          </a:p>
        </p:txBody>
      </p:sp>
      <p:sp>
        <p:nvSpPr>
          <p:cNvPr id="13" name="Picture Placeholder 28">
            <a:extLst>
              <a:ext uri="{FF2B5EF4-FFF2-40B4-BE49-F238E27FC236}">
                <a16:creationId xmlns:a16="http://schemas.microsoft.com/office/drawing/2014/main" id="{5E78E133-FE09-456A-8463-9EFAC6ADE26B}"/>
              </a:ext>
            </a:extLst>
          </p:cNvPr>
          <p:cNvSpPr>
            <a:spLocks noGrp="1"/>
          </p:cNvSpPr>
          <p:nvPr>
            <p:ph type="pic" sz="quarter" idx="22"/>
          </p:nvPr>
        </p:nvSpPr>
        <p:spPr>
          <a:xfrm>
            <a:off x="844273" y="3573118"/>
            <a:ext cx="576000" cy="576000"/>
          </a:xfrm>
        </p:spPr>
        <p:txBody>
          <a:bodyPr>
            <a:normAutofit/>
          </a:bodyPr>
          <a:lstStyle>
            <a:lvl1pPr marL="0" indent="0" algn="ctr">
              <a:buNone/>
              <a:defRPr sz="400"/>
            </a:lvl1pPr>
          </a:lstStyle>
          <a:p>
            <a:r>
              <a:rPr lang="en-US"/>
              <a:t>Click icon to add picture</a:t>
            </a:r>
            <a:endParaRPr lang="en-US" dirty="0"/>
          </a:p>
        </p:txBody>
      </p:sp>
      <p:sp>
        <p:nvSpPr>
          <p:cNvPr id="14" name="Text Placeholder 3">
            <a:extLst>
              <a:ext uri="{FF2B5EF4-FFF2-40B4-BE49-F238E27FC236}">
                <a16:creationId xmlns:a16="http://schemas.microsoft.com/office/drawing/2014/main" id="{7F0C3496-EA4B-43E5-9704-968F80A8552C}"/>
              </a:ext>
            </a:extLst>
          </p:cNvPr>
          <p:cNvSpPr>
            <a:spLocks noGrp="1"/>
          </p:cNvSpPr>
          <p:nvPr>
            <p:ph type="body" sz="half" idx="23"/>
          </p:nvPr>
        </p:nvSpPr>
        <p:spPr>
          <a:xfrm>
            <a:off x="1552418" y="3575461"/>
            <a:ext cx="4057961" cy="1431234"/>
          </a:xfrm>
        </p:spPr>
        <p:txBody>
          <a:bodyPr>
            <a:normAutofit/>
          </a:bodyPr>
          <a:lstStyle>
            <a:lvl1pPr marL="0" indent="0">
              <a:buNone/>
              <a:defRPr sz="2000">
                <a:solidFill>
                  <a:schemeClr val="bg2">
                    <a:lumMod val="20000"/>
                    <a:lumOff val="8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Picture Placeholder 28">
            <a:extLst>
              <a:ext uri="{FF2B5EF4-FFF2-40B4-BE49-F238E27FC236}">
                <a16:creationId xmlns:a16="http://schemas.microsoft.com/office/drawing/2014/main" id="{13414E14-9FEB-40F8-AE6E-319637A8F1CB}"/>
              </a:ext>
            </a:extLst>
          </p:cNvPr>
          <p:cNvSpPr>
            <a:spLocks noGrp="1"/>
          </p:cNvSpPr>
          <p:nvPr>
            <p:ph type="pic" sz="quarter" idx="24"/>
          </p:nvPr>
        </p:nvSpPr>
        <p:spPr>
          <a:xfrm>
            <a:off x="844273" y="5263121"/>
            <a:ext cx="576000" cy="576000"/>
          </a:xfrm>
        </p:spPr>
        <p:txBody>
          <a:bodyPr>
            <a:normAutofit/>
          </a:bodyPr>
          <a:lstStyle>
            <a:lvl1pPr marL="0" indent="0" algn="ctr">
              <a:buNone/>
              <a:defRPr sz="400"/>
            </a:lvl1pPr>
          </a:lstStyle>
          <a:p>
            <a:r>
              <a:rPr lang="en-US"/>
              <a:t>Click icon to add picture</a:t>
            </a:r>
            <a:endParaRPr lang="en-US" dirty="0"/>
          </a:p>
        </p:txBody>
      </p:sp>
      <p:sp>
        <p:nvSpPr>
          <p:cNvPr id="16" name="Text Placeholder 3">
            <a:extLst>
              <a:ext uri="{FF2B5EF4-FFF2-40B4-BE49-F238E27FC236}">
                <a16:creationId xmlns:a16="http://schemas.microsoft.com/office/drawing/2014/main" id="{8EC97C88-8B4C-4665-845B-95CE8F237779}"/>
              </a:ext>
            </a:extLst>
          </p:cNvPr>
          <p:cNvSpPr>
            <a:spLocks noGrp="1"/>
          </p:cNvSpPr>
          <p:nvPr>
            <p:ph type="body" sz="half" idx="25"/>
          </p:nvPr>
        </p:nvSpPr>
        <p:spPr>
          <a:xfrm>
            <a:off x="1552418" y="5263122"/>
            <a:ext cx="4057961" cy="775728"/>
          </a:xfrm>
        </p:spPr>
        <p:txBody>
          <a:bodyPr>
            <a:normAutofit/>
          </a:bodyPr>
          <a:lstStyle>
            <a:lvl1pPr marL="0" indent="0">
              <a:buNone/>
              <a:defRPr sz="2000">
                <a:solidFill>
                  <a:schemeClr val="bg2">
                    <a:lumMod val="20000"/>
                    <a:lumOff val="8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480610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mparison with picture">
    <p:spTree>
      <p:nvGrpSpPr>
        <p:cNvPr id="1" name=""/>
        <p:cNvGrpSpPr/>
        <p:nvPr/>
      </p:nvGrpSpPr>
      <p:grpSpPr>
        <a:xfrm>
          <a:off x="0" y="0"/>
          <a:ext cx="0" cy="0"/>
          <a:chOff x="0" y="0"/>
          <a:chExt cx="0" cy="0"/>
        </a:xfrm>
      </p:grpSpPr>
      <p:sp>
        <p:nvSpPr>
          <p:cNvPr id="14" name="Picture Placeholder 12">
            <a:extLst>
              <a:ext uri="{FF2B5EF4-FFF2-40B4-BE49-F238E27FC236}">
                <a16:creationId xmlns:a16="http://schemas.microsoft.com/office/drawing/2014/main" id="{B74348DE-EC54-4C62-948C-0B2BF9045578}"/>
              </a:ext>
            </a:extLst>
          </p:cNvPr>
          <p:cNvSpPr>
            <a:spLocks noGrp="1"/>
          </p:cNvSpPr>
          <p:nvPr>
            <p:ph type="pic" sz="quarter" idx="13"/>
          </p:nvPr>
        </p:nvSpPr>
        <p:spPr>
          <a:xfrm>
            <a:off x="0" y="3115389"/>
            <a:ext cx="12188825" cy="3742611"/>
          </a:xfrm>
        </p:spPr>
        <p:txBody>
          <a:bodyPr/>
          <a:lstStyle>
            <a:lvl1pPr marL="0" indent="0" algn="ctr">
              <a:buNone/>
              <a:defRPr/>
            </a:lvl1pPr>
          </a:lstStyle>
          <a:p>
            <a:r>
              <a:rPr lang="en-US"/>
              <a:t>Click icon to add picture</a:t>
            </a:r>
            <a:endParaRPr lang="en-US" dirty="0"/>
          </a:p>
        </p:txBody>
      </p:sp>
      <p:sp>
        <p:nvSpPr>
          <p:cNvPr id="10" name="object 3">
            <a:extLst>
              <a:ext uri="{FF2B5EF4-FFF2-40B4-BE49-F238E27FC236}">
                <a16:creationId xmlns:a16="http://schemas.microsoft.com/office/drawing/2014/main" id="{2A53E879-94A1-4659-9069-ED0D6F03014D}"/>
              </a:ext>
            </a:extLst>
          </p:cNvPr>
          <p:cNvSpPr/>
          <p:nvPr userDrawn="1"/>
        </p:nvSpPr>
        <p:spPr>
          <a:xfrm>
            <a:off x="2400" y="1999821"/>
            <a:ext cx="12189600" cy="1115568"/>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accent2"/>
          </a:solidFill>
        </p:spPr>
        <p:txBody>
          <a:bodyPr wrap="square" lIns="0" tIns="0" rIns="0" bIns="0" rtlCol="0"/>
          <a:lstStyle/>
          <a:p>
            <a:endParaRPr lang="en-US" noProof="0" dirty="0"/>
          </a:p>
        </p:txBody>
      </p:sp>
      <p:sp>
        <p:nvSpPr>
          <p:cNvPr id="2" name="Title 1">
            <a:extLst>
              <a:ext uri="{FF2B5EF4-FFF2-40B4-BE49-F238E27FC236}">
                <a16:creationId xmlns:a16="http://schemas.microsoft.com/office/drawing/2014/main" id="{0EF43C73-1D0F-45F9-A7E4-E9D24EAFDE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B88E76-F6AB-4621-A9A6-20A81C5A3F91}"/>
              </a:ext>
            </a:extLst>
          </p:cNvPr>
          <p:cNvSpPr>
            <a:spLocks noGrp="1"/>
          </p:cNvSpPr>
          <p:nvPr>
            <p:ph type="body" idx="1"/>
          </p:nvPr>
        </p:nvSpPr>
        <p:spPr>
          <a:xfrm>
            <a:off x="839788" y="1985963"/>
            <a:ext cx="5157787"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6A313FB9-6D6C-4F61-9E7A-76E686D06C25}"/>
              </a:ext>
            </a:extLst>
          </p:cNvPr>
          <p:cNvSpPr>
            <a:spLocks noGrp="1"/>
          </p:cNvSpPr>
          <p:nvPr>
            <p:ph sz="half" idx="2"/>
          </p:nvPr>
        </p:nvSpPr>
        <p:spPr>
          <a:xfrm>
            <a:off x="839788" y="3434047"/>
            <a:ext cx="5157787" cy="2755616"/>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2A93A737-E48B-4909-BE04-F55B58103257}"/>
              </a:ext>
            </a:extLst>
          </p:cNvPr>
          <p:cNvSpPr>
            <a:spLocks noGrp="1"/>
          </p:cNvSpPr>
          <p:nvPr>
            <p:ph type="body" sz="quarter" idx="3"/>
          </p:nvPr>
        </p:nvSpPr>
        <p:spPr>
          <a:xfrm>
            <a:off x="6172200" y="1985963"/>
            <a:ext cx="5183188"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F9958C-DB5F-444E-ACE8-73F5E0CA67F1}"/>
              </a:ext>
            </a:extLst>
          </p:cNvPr>
          <p:cNvSpPr>
            <a:spLocks noGrp="1"/>
          </p:cNvSpPr>
          <p:nvPr>
            <p:ph sz="quarter" idx="4"/>
          </p:nvPr>
        </p:nvSpPr>
        <p:spPr>
          <a:xfrm>
            <a:off x="6172200" y="3434047"/>
            <a:ext cx="5183188" cy="2755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D097D1-3052-4C1F-B573-CA25FFF6CCB5}"/>
              </a:ext>
            </a:extLst>
          </p:cNvPr>
          <p:cNvSpPr>
            <a:spLocks noGrp="1"/>
          </p:cNvSpPr>
          <p:nvPr>
            <p:ph type="dt" sz="half" idx="10"/>
          </p:nvPr>
        </p:nvSpPr>
        <p:spPr/>
        <p:txBody>
          <a:bodyPr/>
          <a:lstStyle/>
          <a:p>
            <a:fld id="{C6A5CD8C-7FEF-4E71-8EB9-D3BA6E2E3E9E}" type="datetime1">
              <a:rPr lang="en-US" smtClean="0"/>
              <a:t>6/30/2026</a:t>
            </a:fld>
            <a:endParaRPr lang="en-US" dirty="0"/>
          </a:p>
        </p:txBody>
      </p:sp>
      <p:sp>
        <p:nvSpPr>
          <p:cNvPr id="8" name="Footer Placeholder 7">
            <a:extLst>
              <a:ext uri="{FF2B5EF4-FFF2-40B4-BE49-F238E27FC236}">
                <a16:creationId xmlns:a16="http://schemas.microsoft.com/office/drawing/2014/main" id="{F2607AC3-2220-4DDA-A22A-C404538FE48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FD8DEB3-F122-4B42-9E12-F61189B878B2}"/>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030576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Picture with Three Sections">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29F16048-FF4E-41B1-B3D4-0FB210A70DF2}"/>
              </a:ext>
            </a:extLst>
          </p:cNvPr>
          <p:cNvSpPr/>
          <p:nvPr userDrawn="1"/>
        </p:nvSpPr>
        <p:spPr>
          <a:xfrm>
            <a:off x="5294630" y="0"/>
            <a:ext cx="6897370" cy="6858000"/>
          </a:xfrm>
          <a:custGeom>
            <a:avLst/>
            <a:gdLst/>
            <a:ahLst/>
            <a:cxnLst/>
            <a:rect l="l" t="t" r="r" b="b"/>
            <a:pathLst>
              <a:path w="6897370" h="6858000">
                <a:moveTo>
                  <a:pt x="0" y="6858000"/>
                </a:moveTo>
                <a:lnTo>
                  <a:pt x="6896900" y="6858000"/>
                </a:lnTo>
                <a:lnTo>
                  <a:pt x="6896900" y="0"/>
                </a:lnTo>
                <a:lnTo>
                  <a:pt x="0" y="0"/>
                </a:lnTo>
                <a:lnTo>
                  <a:pt x="0" y="6858000"/>
                </a:lnTo>
                <a:close/>
              </a:path>
            </a:pathLst>
          </a:custGeom>
          <a:solidFill>
            <a:schemeClr val="accent2"/>
          </a:solidFill>
        </p:spPr>
        <p:txBody>
          <a:bodyPr wrap="square" lIns="0" tIns="0" rIns="0" bIns="0" rtlCol="0"/>
          <a:lstStyle/>
          <a:p>
            <a:endParaRPr lang="en-US" noProof="0" dirty="0"/>
          </a:p>
        </p:txBody>
      </p:sp>
      <p:sp>
        <p:nvSpPr>
          <p:cNvPr id="11" name="Oval 10">
            <a:extLst>
              <a:ext uri="{FF2B5EF4-FFF2-40B4-BE49-F238E27FC236}">
                <a16:creationId xmlns:a16="http://schemas.microsoft.com/office/drawing/2014/main" id="{98AB8B54-69CD-4C57-8DBB-02A0E09851DD}"/>
              </a:ext>
            </a:extLst>
          </p:cNvPr>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690E0AA-5363-4861-AB6B-0E4D34D74B92}"/>
              </a:ext>
            </a:extLst>
          </p:cNvPr>
          <p:cNvSpPr>
            <a:spLocks noGrp="1"/>
          </p:cNvSpPr>
          <p:nvPr>
            <p:ph type="title"/>
          </p:nvPr>
        </p:nvSpPr>
        <p:spPr>
          <a:xfrm>
            <a:off x="839788" y="417362"/>
            <a:ext cx="3932237" cy="1302111"/>
          </a:xfrm>
        </p:spPr>
        <p:txBody>
          <a:bodyPr anchor="b"/>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EA79774D-36EB-4201-B1AC-922DD2E06640}"/>
              </a:ext>
            </a:extLst>
          </p:cNvPr>
          <p:cNvSpPr>
            <a:spLocks noGrp="1"/>
          </p:cNvSpPr>
          <p:nvPr>
            <p:ph type="body" sz="half" idx="2"/>
          </p:nvPr>
        </p:nvSpPr>
        <p:spPr>
          <a:xfrm>
            <a:off x="7294251" y="1192697"/>
            <a:ext cx="4057961" cy="1431234"/>
          </a:xfrm>
        </p:spPr>
        <p:txBody>
          <a:bodyPr/>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D1E234-1CB2-41A0-B40D-7E7F160CBA11}"/>
              </a:ext>
            </a:extLst>
          </p:cNvPr>
          <p:cNvSpPr>
            <a:spLocks noGrp="1"/>
          </p:cNvSpPr>
          <p:nvPr>
            <p:ph type="dt" sz="half" idx="10"/>
          </p:nvPr>
        </p:nvSpPr>
        <p:spPr/>
        <p:txBody>
          <a:bodyPr/>
          <a:lstStyle/>
          <a:p>
            <a:fld id="{8C6D634D-0427-413D-A0D0-098959D06FEF}" type="datetime1">
              <a:rPr lang="en-US" smtClean="0"/>
              <a:t>6/30/2026</a:t>
            </a:fld>
            <a:endParaRPr lang="en-US" dirty="0"/>
          </a:p>
        </p:txBody>
      </p:sp>
      <p:sp>
        <p:nvSpPr>
          <p:cNvPr id="6" name="Footer Placeholder 5">
            <a:extLst>
              <a:ext uri="{FF2B5EF4-FFF2-40B4-BE49-F238E27FC236}">
                <a16:creationId xmlns:a16="http://schemas.microsoft.com/office/drawing/2014/main" id="{99FD472E-6334-4051-B4D9-6361A819F79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2384B9-6290-4070-B7D1-A105B27F0CB0}"/>
              </a:ext>
            </a:extLst>
          </p:cNvPr>
          <p:cNvSpPr>
            <a:spLocks noGrp="1"/>
          </p:cNvSpPr>
          <p:nvPr>
            <p:ph type="sldNum" sz="quarter" idx="12"/>
          </p:nvPr>
        </p:nvSpPr>
        <p:spPr/>
        <p:txBody>
          <a:bodyPr/>
          <a:lstStyle/>
          <a:p>
            <a:fld id="{82EE24B5-652C-4DB5-B7C3-B5BBEC1280B1}" type="slidenum">
              <a:rPr lang="en-US" smtClean="0"/>
              <a:t>‹#›</a:t>
            </a:fld>
            <a:endParaRPr lang="en-US" dirty="0"/>
          </a:p>
        </p:txBody>
      </p:sp>
      <p:sp>
        <p:nvSpPr>
          <p:cNvPr id="9" name="object 2">
            <a:extLst>
              <a:ext uri="{FF2B5EF4-FFF2-40B4-BE49-F238E27FC236}">
                <a16:creationId xmlns:a16="http://schemas.microsoft.com/office/drawing/2014/main" id="{9337951D-6DB6-4713-9200-E8513CDEB6B3}"/>
              </a:ext>
            </a:extLst>
          </p:cNvPr>
          <p:cNvSpPr/>
          <p:nvPr userDrawn="1"/>
        </p:nvSpPr>
        <p:spPr>
          <a:xfrm>
            <a:off x="0" y="2430411"/>
            <a:ext cx="3625850" cy="3438525"/>
          </a:xfrm>
          <a:custGeom>
            <a:avLst/>
            <a:gdLst/>
            <a:ahLst/>
            <a:cxnLst/>
            <a:rect l="l" t="t" r="r" b="b"/>
            <a:pathLst>
              <a:path w="3625850" h="3438525">
                <a:moveTo>
                  <a:pt x="0" y="3438486"/>
                </a:moveTo>
                <a:lnTo>
                  <a:pt x="3625596" y="3438486"/>
                </a:lnTo>
                <a:lnTo>
                  <a:pt x="3625596" y="0"/>
                </a:lnTo>
                <a:lnTo>
                  <a:pt x="0" y="0"/>
                </a:lnTo>
                <a:lnTo>
                  <a:pt x="0" y="3438486"/>
                </a:lnTo>
                <a:close/>
              </a:path>
            </a:pathLst>
          </a:custGeom>
          <a:solidFill>
            <a:schemeClr val="accent1"/>
          </a:solidFill>
        </p:spPr>
        <p:txBody>
          <a:bodyPr wrap="square" lIns="0" tIns="0" rIns="0" bIns="0" rtlCol="0"/>
          <a:lstStyle/>
          <a:p>
            <a:endParaRPr lang="en-US" noProof="0" dirty="0"/>
          </a:p>
        </p:txBody>
      </p:sp>
      <p:sp>
        <p:nvSpPr>
          <p:cNvPr id="3" name="Picture Placeholder 2">
            <a:extLst>
              <a:ext uri="{FF2B5EF4-FFF2-40B4-BE49-F238E27FC236}">
                <a16:creationId xmlns:a16="http://schemas.microsoft.com/office/drawing/2014/main" id="{8D44B7CE-2038-4CCA-AA8A-D03DE5FD956E}"/>
              </a:ext>
            </a:extLst>
          </p:cNvPr>
          <p:cNvSpPr>
            <a:spLocks noGrp="1"/>
          </p:cNvSpPr>
          <p:nvPr>
            <p:ph type="pic" idx="1"/>
          </p:nvPr>
        </p:nvSpPr>
        <p:spPr>
          <a:xfrm>
            <a:off x="0" y="2781223"/>
            <a:ext cx="6040800" cy="2736901"/>
          </a:xfrm>
        </p:spPr>
        <p:txBody>
          <a:bodyPr>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2" name="Picture Placeholder 28">
            <a:extLst>
              <a:ext uri="{FF2B5EF4-FFF2-40B4-BE49-F238E27FC236}">
                <a16:creationId xmlns:a16="http://schemas.microsoft.com/office/drawing/2014/main" id="{2EB2F967-97B6-4CA8-B3E7-5FF7CA2BDD8C}"/>
              </a:ext>
            </a:extLst>
          </p:cNvPr>
          <p:cNvSpPr>
            <a:spLocks noGrp="1"/>
          </p:cNvSpPr>
          <p:nvPr>
            <p:ph type="pic" sz="quarter" idx="19"/>
          </p:nvPr>
        </p:nvSpPr>
        <p:spPr>
          <a:xfrm>
            <a:off x="6586106" y="1188012"/>
            <a:ext cx="376237" cy="376237"/>
          </a:xfrm>
        </p:spPr>
        <p:txBody>
          <a:bodyPr>
            <a:normAutofit/>
          </a:bodyPr>
          <a:lstStyle>
            <a:lvl1pPr marL="0" indent="0" algn="ctr">
              <a:buNone/>
              <a:defRPr sz="400"/>
            </a:lvl1pPr>
          </a:lstStyle>
          <a:p>
            <a:r>
              <a:rPr lang="en-US"/>
              <a:t>Click icon to add picture</a:t>
            </a:r>
            <a:endParaRPr lang="en-US" dirty="0"/>
          </a:p>
        </p:txBody>
      </p:sp>
      <p:sp>
        <p:nvSpPr>
          <p:cNvPr id="13" name="Picture Placeholder 28">
            <a:extLst>
              <a:ext uri="{FF2B5EF4-FFF2-40B4-BE49-F238E27FC236}">
                <a16:creationId xmlns:a16="http://schemas.microsoft.com/office/drawing/2014/main" id="{5E78E133-FE09-456A-8463-9EFAC6ADE26B}"/>
              </a:ext>
            </a:extLst>
          </p:cNvPr>
          <p:cNvSpPr>
            <a:spLocks noGrp="1"/>
          </p:cNvSpPr>
          <p:nvPr>
            <p:ph type="pic" sz="quarter" idx="22"/>
          </p:nvPr>
        </p:nvSpPr>
        <p:spPr>
          <a:xfrm>
            <a:off x="6586106" y="2878015"/>
            <a:ext cx="376237" cy="376237"/>
          </a:xfrm>
        </p:spPr>
        <p:txBody>
          <a:bodyPr>
            <a:normAutofit/>
          </a:bodyPr>
          <a:lstStyle>
            <a:lvl1pPr marL="0" indent="0" algn="ctr">
              <a:buNone/>
              <a:defRPr sz="400"/>
            </a:lvl1pPr>
          </a:lstStyle>
          <a:p>
            <a:r>
              <a:rPr lang="en-US"/>
              <a:t>Click icon to add picture</a:t>
            </a:r>
            <a:endParaRPr lang="en-US" dirty="0"/>
          </a:p>
        </p:txBody>
      </p:sp>
      <p:sp>
        <p:nvSpPr>
          <p:cNvPr id="14" name="Text Placeholder 3">
            <a:extLst>
              <a:ext uri="{FF2B5EF4-FFF2-40B4-BE49-F238E27FC236}">
                <a16:creationId xmlns:a16="http://schemas.microsoft.com/office/drawing/2014/main" id="{7F0C3496-EA4B-43E5-9704-968F80A8552C}"/>
              </a:ext>
            </a:extLst>
          </p:cNvPr>
          <p:cNvSpPr>
            <a:spLocks noGrp="1"/>
          </p:cNvSpPr>
          <p:nvPr>
            <p:ph type="body" sz="half" idx="23"/>
          </p:nvPr>
        </p:nvSpPr>
        <p:spPr>
          <a:xfrm>
            <a:off x="7294250" y="2880357"/>
            <a:ext cx="4057961" cy="1431234"/>
          </a:xfrm>
        </p:spPr>
        <p:txBody>
          <a:bodyPr/>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Picture Placeholder 28">
            <a:extLst>
              <a:ext uri="{FF2B5EF4-FFF2-40B4-BE49-F238E27FC236}">
                <a16:creationId xmlns:a16="http://schemas.microsoft.com/office/drawing/2014/main" id="{13414E14-9FEB-40F8-AE6E-319637A8F1CB}"/>
              </a:ext>
            </a:extLst>
          </p:cNvPr>
          <p:cNvSpPr>
            <a:spLocks noGrp="1"/>
          </p:cNvSpPr>
          <p:nvPr>
            <p:ph type="pic" sz="quarter" idx="24"/>
          </p:nvPr>
        </p:nvSpPr>
        <p:spPr>
          <a:xfrm>
            <a:off x="6586106" y="4568018"/>
            <a:ext cx="376237" cy="376237"/>
          </a:xfrm>
        </p:spPr>
        <p:txBody>
          <a:bodyPr>
            <a:normAutofit/>
          </a:bodyPr>
          <a:lstStyle>
            <a:lvl1pPr marL="0" indent="0" algn="ctr">
              <a:buNone/>
              <a:defRPr sz="400"/>
            </a:lvl1pPr>
          </a:lstStyle>
          <a:p>
            <a:r>
              <a:rPr lang="en-US"/>
              <a:t>Click icon to add picture</a:t>
            </a:r>
            <a:endParaRPr lang="en-US" dirty="0"/>
          </a:p>
        </p:txBody>
      </p:sp>
      <p:sp>
        <p:nvSpPr>
          <p:cNvPr id="16" name="Text Placeholder 3">
            <a:extLst>
              <a:ext uri="{FF2B5EF4-FFF2-40B4-BE49-F238E27FC236}">
                <a16:creationId xmlns:a16="http://schemas.microsoft.com/office/drawing/2014/main" id="{8EC97C88-8B4C-4665-845B-95CE8F237779}"/>
              </a:ext>
            </a:extLst>
          </p:cNvPr>
          <p:cNvSpPr>
            <a:spLocks noGrp="1"/>
          </p:cNvSpPr>
          <p:nvPr>
            <p:ph type="body" sz="half" idx="25"/>
          </p:nvPr>
        </p:nvSpPr>
        <p:spPr>
          <a:xfrm>
            <a:off x="7294250" y="4568018"/>
            <a:ext cx="4057961" cy="1431234"/>
          </a:xfrm>
        </p:spPr>
        <p:txBody>
          <a:bodyPr/>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856490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CEC732-0DE2-456B-92A1-84321C9BDC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DA816A5B-B156-4DC3-B18E-14F3E59A64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FDB0252E-67CD-4B33-849F-7B1449CF27D0}"/>
              </a:ext>
            </a:extLst>
          </p:cNvPr>
          <p:cNvSpPr>
            <a:spLocks noGrp="1"/>
          </p:cNvSpPr>
          <p:nvPr>
            <p:ph type="dt" sz="half" idx="2"/>
          </p:nvPr>
        </p:nvSpPr>
        <p:spPr>
          <a:xfrm>
            <a:off x="838200" y="617490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2591E0-5367-4F2F-9C30-2087D79A846D}" type="datetime1">
              <a:rPr lang="en-US" noProof="0" smtClean="0"/>
              <a:t>6/30/2026</a:t>
            </a:fld>
            <a:endParaRPr lang="en-US" noProof="0" dirty="0"/>
          </a:p>
        </p:txBody>
      </p:sp>
      <p:sp>
        <p:nvSpPr>
          <p:cNvPr id="5" name="Footer Placeholder 4">
            <a:extLst>
              <a:ext uri="{FF2B5EF4-FFF2-40B4-BE49-F238E27FC236}">
                <a16:creationId xmlns:a16="http://schemas.microsoft.com/office/drawing/2014/main" id="{DC620AD2-E3F8-48CB-8B72-B0945DF5348A}"/>
              </a:ext>
            </a:extLst>
          </p:cNvPr>
          <p:cNvSpPr>
            <a:spLocks noGrp="1"/>
          </p:cNvSpPr>
          <p:nvPr>
            <p:ph type="ftr" sz="quarter" idx="3"/>
          </p:nvPr>
        </p:nvSpPr>
        <p:spPr>
          <a:xfrm>
            <a:off x="4038600" y="617490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10" name="Oval 9">
            <a:extLst>
              <a:ext uri="{FF2B5EF4-FFF2-40B4-BE49-F238E27FC236}">
                <a16:creationId xmlns:a16="http://schemas.microsoft.com/office/drawing/2014/main" id="{5A5F3BCF-F6FD-4DFF-B0B4-9892C9389344}"/>
              </a:ext>
            </a:extLst>
          </p:cNvPr>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a16="http://schemas.microsoft.com/office/drawing/2014/main" id="{D15DEFFD-817B-43EC-86F0-34DEA2BA5EEB}"/>
              </a:ext>
            </a:extLst>
          </p:cNvPr>
          <p:cNvSpPr>
            <a:spLocks noGrp="1"/>
          </p:cNvSpPr>
          <p:nvPr>
            <p:ph type="sldNum" sz="quarter" idx="4"/>
          </p:nvPr>
        </p:nvSpPr>
        <p:spPr>
          <a:xfrm>
            <a:off x="11468844" y="6174902"/>
            <a:ext cx="357116" cy="365125"/>
          </a:xfrm>
          <a:prstGeom prst="rect">
            <a:avLst/>
          </a:prstGeom>
        </p:spPr>
        <p:txBody>
          <a:bodyPr vert="horz" lIns="91440" tIns="45720" rIns="91440" bIns="45720" rtlCol="0" anchor="ctr"/>
          <a:lstStyle>
            <a:lvl1pPr algn="r">
              <a:defRPr sz="1000" i="1">
                <a:solidFill>
                  <a:schemeClr val="tx2">
                    <a:alpha val="70000"/>
                  </a:schemeClr>
                </a:solidFill>
              </a:defRPr>
            </a:lvl1pPr>
          </a:lstStyle>
          <a:p>
            <a:fld id="{82EE24B5-652C-4DB5-B7C3-B5BBEC1280B1}" type="slidenum">
              <a:rPr lang="en-US" noProof="0" smtClean="0"/>
              <a:pPr/>
              <a:t>‹#›</a:t>
            </a:fld>
            <a:endParaRPr lang="en-US" noProof="0" dirty="0"/>
          </a:p>
        </p:txBody>
      </p:sp>
    </p:spTree>
    <p:extLst>
      <p:ext uri="{BB962C8B-B14F-4D97-AF65-F5344CB8AC3E}">
        <p14:creationId xmlns:p14="http://schemas.microsoft.com/office/powerpoint/2010/main" val="3664101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hf hdr="0" ftr="0" dt="0"/>
  <p:txStyles>
    <p:titleStyle>
      <a:lvl1pPr algn="l" defTabSz="914400" rtl="0" eaLnBrk="1" latinLnBrk="0" hangingPunct="1">
        <a:lnSpc>
          <a:spcPct val="90000"/>
        </a:lnSpc>
        <a:spcBef>
          <a:spcPct val="0"/>
        </a:spcBef>
        <a:buNone/>
        <a:defRPr sz="3200" b="1"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 Id="rId9" Type="http://schemas.openxmlformats.org/officeDocument/2006/relationships/chart" Target="../charts/char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chart" Target="../charts/chart8.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chart" Target="../charts/chart9.xml"/></Relationships>
</file>

<file path=ppt/slides/_rels/slide1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1.jpg"/><Relationship Id="rId7" Type="http://schemas.openxmlformats.org/officeDocument/2006/relationships/image" Target="../media/image13.sv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descr="Blue rectangle">
            <a:extLst>
              <a:ext uri="{FF2B5EF4-FFF2-40B4-BE49-F238E27FC236}">
                <a16:creationId xmlns:a16="http://schemas.microsoft.com/office/drawing/2014/main" id="{482BBC39-5D4C-4E24-ADB1-5FFFBA7198DC}"/>
              </a:ext>
            </a:extLst>
          </p:cNvPr>
          <p:cNvSpPr/>
          <p:nvPr/>
        </p:nvSpPr>
        <p:spPr>
          <a:xfrm>
            <a:off x="0" y="0"/>
            <a:ext cx="12188952" cy="6858000"/>
          </a:xfrm>
          <a:prstGeom prst="rect">
            <a:avLst/>
          </a:prstGeom>
          <a:blipFill>
            <a:blip r:embed="rId3"/>
            <a:srcRect/>
            <a:stretch>
              <a:fillRect l="-12" r="-12"/>
            </a:stretch>
          </a:blipFill>
        </p:spPr>
        <p:txBody>
          <a:bodyPr wrap="square" lIns="0" tIns="0" rIns="0" bIns="0" rtlCol="0"/>
          <a:lstStyle/>
          <a:p>
            <a:endParaRPr lang="en-US" dirty="0"/>
          </a:p>
        </p:txBody>
      </p:sp>
      <p:sp>
        <p:nvSpPr>
          <p:cNvPr id="4" name="object 3" descr="People with documents">
            <a:extLst>
              <a:ext uri="{FF2B5EF4-FFF2-40B4-BE49-F238E27FC236}">
                <a16:creationId xmlns:a16="http://schemas.microsoft.com/office/drawing/2014/main" id="{0CA2E80D-F3EC-4A5F-8E65-56FEA206EE0F}"/>
              </a:ext>
            </a:extLst>
          </p:cNvPr>
          <p:cNvSpPr/>
          <p:nvPr/>
        </p:nvSpPr>
        <p:spPr>
          <a:xfrm>
            <a:off x="-508" y="0"/>
            <a:ext cx="1218946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2" name="Title 1">
            <a:extLst>
              <a:ext uri="{FF2B5EF4-FFF2-40B4-BE49-F238E27FC236}">
                <a16:creationId xmlns:a16="http://schemas.microsoft.com/office/drawing/2014/main" id="{AFB6C91D-4B22-49F1-9A0B-ABEB9E1F5A26}"/>
              </a:ext>
            </a:extLst>
          </p:cNvPr>
          <p:cNvSpPr>
            <a:spLocks noGrp="1"/>
          </p:cNvSpPr>
          <p:nvPr>
            <p:ph type="ctrTitle"/>
          </p:nvPr>
        </p:nvSpPr>
        <p:spPr>
          <a:xfrm>
            <a:off x="1524000" y="2008518"/>
            <a:ext cx="9144000" cy="2128049"/>
          </a:xfrm>
        </p:spPr>
        <p:txBody>
          <a:bodyPr>
            <a:normAutofit/>
          </a:bodyPr>
          <a:lstStyle/>
          <a:p>
            <a:r>
              <a:rPr lang="en-US" sz="5400" dirty="0"/>
              <a:t>ONLINE RETAIL SALES ANALYSIS</a:t>
            </a:r>
            <a:endParaRPr lang="en-US" sz="5000" dirty="0">
              <a:solidFill>
                <a:schemeClr val="bg1"/>
              </a:solidFill>
              <a:latin typeface="Gill Sans MT" panose="020B0502020104020203" pitchFamily="34" charset="0"/>
            </a:endParaRPr>
          </a:p>
        </p:txBody>
      </p:sp>
      <p:sp>
        <p:nvSpPr>
          <p:cNvPr id="3" name="Subtitle 2">
            <a:extLst>
              <a:ext uri="{FF2B5EF4-FFF2-40B4-BE49-F238E27FC236}">
                <a16:creationId xmlns:a16="http://schemas.microsoft.com/office/drawing/2014/main" id="{2F8CF06A-B594-4BA2-8B1E-D649096D742F}"/>
              </a:ext>
            </a:extLst>
          </p:cNvPr>
          <p:cNvSpPr>
            <a:spLocks noGrp="1"/>
          </p:cNvSpPr>
          <p:nvPr>
            <p:ph type="subTitle" idx="1"/>
          </p:nvPr>
        </p:nvSpPr>
        <p:spPr>
          <a:xfrm>
            <a:off x="1524000" y="4221162"/>
            <a:ext cx="9144000" cy="882001"/>
          </a:xfrm>
          <a:solidFill>
            <a:schemeClr val="accent2">
              <a:alpha val="90000"/>
            </a:schemeClr>
          </a:solidFill>
        </p:spPr>
        <p:txBody>
          <a:bodyPr anchor="ctr" anchorCtr="0">
            <a:normAutofit lnSpcReduction="10000"/>
          </a:bodyPr>
          <a:lstStyle/>
          <a:p>
            <a:r>
              <a:rPr lang="en-US" dirty="0"/>
              <a:t>Sales Performance &amp; Profitability Dashboard</a:t>
            </a:r>
          </a:p>
          <a:p>
            <a:r>
              <a:rPr lang="en-US" dirty="0"/>
              <a:t>Business Intelligence Report</a:t>
            </a:r>
          </a:p>
        </p:txBody>
      </p:sp>
      <p:sp>
        <p:nvSpPr>
          <p:cNvPr id="6" name="object 7" descr="Beige rectangle">
            <a:extLst>
              <a:ext uri="{FF2B5EF4-FFF2-40B4-BE49-F238E27FC236}">
                <a16:creationId xmlns:a16="http://schemas.microsoft.com/office/drawing/2014/main" id="{B36975AA-C62E-46BE-9382-E2CF56FDF817}"/>
              </a:ext>
            </a:extLst>
          </p:cNvPr>
          <p:cNvSpPr/>
          <p:nvPr/>
        </p:nvSpPr>
        <p:spPr>
          <a:xfrm>
            <a:off x="3108000" y="3229869"/>
            <a:ext cx="5976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
        <p:nvSpPr>
          <p:cNvPr id="7" name="Title 1">
            <a:extLst>
              <a:ext uri="{FF2B5EF4-FFF2-40B4-BE49-F238E27FC236}">
                <a16:creationId xmlns:a16="http://schemas.microsoft.com/office/drawing/2014/main" id="{59045C3C-06DC-84CD-083F-B051D5E625A0}"/>
              </a:ext>
            </a:extLst>
          </p:cNvPr>
          <p:cNvSpPr txBox="1">
            <a:spLocks/>
          </p:cNvSpPr>
          <p:nvPr/>
        </p:nvSpPr>
        <p:spPr>
          <a:xfrm>
            <a:off x="5276850" y="4543345"/>
            <a:ext cx="9144000" cy="2128049"/>
          </a:xfrm>
          <a:prstGeom prst="rect">
            <a:avLst/>
          </a:prstGeom>
        </p:spPr>
        <p:txBody>
          <a:bodyPr vert="horz" lIns="91440" tIns="45720" rIns="91440" bIns="45720" rtlCol="0" anchor="b">
            <a:normAutofit/>
          </a:bodyPr>
          <a:lstStyle>
            <a:lvl1pPr algn="ctr" defTabSz="914400" rtl="0" eaLnBrk="1" latinLnBrk="0" hangingPunct="1">
              <a:lnSpc>
                <a:spcPct val="125000"/>
              </a:lnSpc>
              <a:spcBef>
                <a:spcPct val="0"/>
              </a:spcBef>
              <a:buNone/>
              <a:defRPr sz="6000" b="1" kern="1200">
                <a:solidFill>
                  <a:schemeClr val="bg1"/>
                </a:solidFill>
                <a:latin typeface="+mj-lt"/>
                <a:ea typeface="+mj-ea"/>
                <a:cs typeface="+mj-cs"/>
              </a:defRPr>
            </a:lvl1pPr>
          </a:lstStyle>
          <a:p>
            <a:r>
              <a:rPr lang="en-US" sz="1600" dirty="0">
                <a:latin typeface="Gill Sans MT" panose="020B0502020104020203" pitchFamily="34" charset="0"/>
              </a:rPr>
              <a:t>PREPARED BY: BAMIKOLE ILESANMI</a:t>
            </a:r>
          </a:p>
        </p:txBody>
      </p:sp>
    </p:spTree>
    <p:extLst>
      <p:ext uri="{BB962C8B-B14F-4D97-AF65-F5344CB8AC3E}">
        <p14:creationId xmlns:p14="http://schemas.microsoft.com/office/powerpoint/2010/main" val="1093556016"/>
      </p:ext>
    </p:extLst>
  </p:cSld>
  <p:clrMapOvr>
    <a:masterClrMapping/>
  </p:clrMapOvr>
  <mc:AlternateContent xmlns:mc="http://schemas.openxmlformats.org/markup-compatibility/2006">
    <mc:Choice xmlns:p14="http://schemas.microsoft.com/office/powerpoint/2010/main" Requires="p14">
      <p:transition spd="slow" p14:dur="4000">
        <p:comb/>
      </p:transition>
    </mc:Choice>
    <mc:Fallback>
      <p:transition spd="slow">
        <p:comb/>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Two men look at a plan">
            <a:extLst>
              <a:ext uri="{FF2B5EF4-FFF2-40B4-BE49-F238E27FC236}">
                <a16:creationId xmlns:a16="http://schemas.microsoft.com/office/drawing/2014/main" id="{97D2A81D-F7D1-4144-9EC5-03531DC5260D}"/>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tretch>
            <a:fillRect/>
          </a:stretch>
        </p:blipFill>
        <p:spPr>
          <a:xfrm>
            <a:off x="912813" y="1"/>
            <a:ext cx="11277598" cy="6857999"/>
          </a:xfrm>
        </p:spPr>
      </p:pic>
      <p:sp>
        <p:nvSpPr>
          <p:cNvPr id="16" name="object 3" descr="Beige rectangle">
            <a:extLst>
              <a:ext uri="{FF2B5EF4-FFF2-40B4-BE49-F238E27FC236}">
                <a16:creationId xmlns:a16="http://schemas.microsoft.com/office/drawing/2014/main" id="{C6CF32E2-A869-4259-A659-5EEE6BDA3B59}"/>
              </a:ext>
            </a:extLst>
          </p:cNvPr>
          <p:cNvSpPr/>
          <p:nvPr/>
        </p:nvSpPr>
        <p:spPr>
          <a:xfrm>
            <a:off x="579775" y="472492"/>
            <a:ext cx="4051368" cy="5913017"/>
          </a:xfrm>
          <a:custGeom>
            <a:avLst/>
            <a:gdLst/>
            <a:ahLst/>
            <a:cxnLst/>
            <a:rect l="l" t="t" r="r" b="b"/>
            <a:pathLst>
              <a:path w="4010659" h="333375">
                <a:moveTo>
                  <a:pt x="0" y="333006"/>
                </a:moveTo>
                <a:lnTo>
                  <a:pt x="4010367" y="333006"/>
                </a:lnTo>
                <a:lnTo>
                  <a:pt x="4010367" y="0"/>
                </a:lnTo>
                <a:lnTo>
                  <a:pt x="0" y="0"/>
                </a:lnTo>
                <a:lnTo>
                  <a:pt x="0" y="333006"/>
                </a:lnTo>
                <a:close/>
              </a:path>
            </a:pathLst>
          </a:custGeom>
          <a:solidFill>
            <a:schemeClr val="accent1"/>
          </a:solidFill>
        </p:spPr>
        <p:txBody>
          <a:bodyPr wrap="square" lIns="0" tIns="0" rIns="0" bIns="0" rtlCol="0"/>
          <a:lstStyle/>
          <a:p>
            <a:endParaRPr lang="en-US" dirty="0"/>
          </a:p>
        </p:txBody>
      </p:sp>
      <p:sp>
        <p:nvSpPr>
          <p:cNvPr id="14" name="Oval 13" descr="Beige oval">
            <a:extLst>
              <a:ext uri="{FF2B5EF4-FFF2-40B4-BE49-F238E27FC236}">
                <a16:creationId xmlns:a16="http://schemas.microsoft.com/office/drawing/2014/main" id="{B8809DE3-0F1D-442A-8935-B40AD580864B}"/>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bject 6" descr="Blue rectangle">
            <a:extLst>
              <a:ext uri="{FF2B5EF4-FFF2-40B4-BE49-F238E27FC236}">
                <a16:creationId xmlns:a16="http://schemas.microsoft.com/office/drawing/2014/main" id="{882E2F92-EB16-4B55-B49A-3C6AB7B2BF30}"/>
              </a:ext>
            </a:extLst>
          </p:cNvPr>
          <p:cNvSpPr/>
          <p:nvPr/>
        </p:nvSpPr>
        <p:spPr>
          <a:xfrm>
            <a:off x="911225" y="836613"/>
            <a:ext cx="5184775" cy="5184775"/>
          </a:xfrm>
          <a:custGeom>
            <a:avLst/>
            <a:gdLst/>
            <a:ahLst/>
            <a:cxnLst/>
            <a:rect l="l" t="t" r="r" b="b"/>
            <a:pathLst>
              <a:path w="6689725" h="3528060">
                <a:moveTo>
                  <a:pt x="0" y="3527996"/>
                </a:moveTo>
                <a:lnTo>
                  <a:pt x="6689648" y="3527996"/>
                </a:lnTo>
                <a:lnTo>
                  <a:pt x="6689648" y="0"/>
                </a:lnTo>
                <a:lnTo>
                  <a:pt x="0" y="0"/>
                </a:lnTo>
                <a:lnTo>
                  <a:pt x="0" y="3527996"/>
                </a:lnTo>
                <a:close/>
              </a:path>
            </a:pathLst>
          </a:custGeom>
          <a:solidFill>
            <a:schemeClr val="accent2"/>
          </a:solidFill>
        </p:spPr>
        <p:txBody>
          <a:bodyPr wrap="square" lIns="0" tIns="0" rIns="0" bIns="0" rtlCol="0"/>
          <a:lstStyle/>
          <a:p>
            <a:endParaRPr lang="en-US" dirty="0"/>
          </a:p>
        </p:txBody>
      </p:sp>
      <p:sp>
        <p:nvSpPr>
          <p:cNvPr id="3" name="Title 2">
            <a:extLst>
              <a:ext uri="{FF2B5EF4-FFF2-40B4-BE49-F238E27FC236}">
                <a16:creationId xmlns:a16="http://schemas.microsoft.com/office/drawing/2014/main" id="{302303BC-9A39-470F-8733-A268BC16B299}"/>
              </a:ext>
            </a:extLst>
          </p:cNvPr>
          <p:cNvSpPr>
            <a:spLocks noGrp="1"/>
          </p:cNvSpPr>
          <p:nvPr>
            <p:ph type="title"/>
          </p:nvPr>
        </p:nvSpPr>
        <p:spPr>
          <a:xfrm>
            <a:off x="1379723" y="1900048"/>
            <a:ext cx="4770591" cy="646604"/>
          </a:xfrm>
        </p:spPr>
        <p:txBody>
          <a:bodyPr>
            <a:normAutofit/>
          </a:bodyPr>
          <a:lstStyle/>
          <a:p>
            <a:r>
              <a:rPr lang="en-US" sz="3000" dirty="0">
                <a:solidFill>
                  <a:schemeClr val="bg1"/>
                </a:solidFill>
              </a:rPr>
              <a:t>Tools Used</a:t>
            </a:r>
          </a:p>
        </p:txBody>
      </p:sp>
      <p:sp>
        <p:nvSpPr>
          <p:cNvPr id="4" name="Text Placeholder 3">
            <a:extLst>
              <a:ext uri="{FF2B5EF4-FFF2-40B4-BE49-F238E27FC236}">
                <a16:creationId xmlns:a16="http://schemas.microsoft.com/office/drawing/2014/main" id="{23C936ED-4D5A-4897-BFCD-65082B328E0D}"/>
              </a:ext>
            </a:extLst>
          </p:cNvPr>
          <p:cNvSpPr>
            <a:spLocks noGrp="1"/>
          </p:cNvSpPr>
          <p:nvPr>
            <p:ph type="body" sz="half" idx="2"/>
          </p:nvPr>
        </p:nvSpPr>
        <p:spPr>
          <a:xfrm>
            <a:off x="2072476" y="2875186"/>
            <a:ext cx="4057961" cy="1431234"/>
          </a:xfrm>
        </p:spPr>
        <p:txBody>
          <a:bodyPr/>
          <a:lstStyle/>
          <a:p>
            <a:r>
              <a:rPr lang="en-US" b="1" dirty="0"/>
              <a:t>SQL Workbench</a:t>
            </a:r>
          </a:p>
        </p:txBody>
      </p:sp>
      <p:sp>
        <p:nvSpPr>
          <p:cNvPr id="5" name="Slide Number Placeholder 4">
            <a:extLst>
              <a:ext uri="{FF2B5EF4-FFF2-40B4-BE49-F238E27FC236}">
                <a16:creationId xmlns:a16="http://schemas.microsoft.com/office/drawing/2014/main" id="{77C2D5CA-E2DA-4224-B2BC-C872D2EF6596}"/>
              </a:ext>
            </a:extLst>
          </p:cNvPr>
          <p:cNvSpPr>
            <a:spLocks noGrp="1"/>
          </p:cNvSpPr>
          <p:nvPr>
            <p:ph type="sldNum" sz="quarter" idx="12"/>
          </p:nvPr>
        </p:nvSpPr>
        <p:spPr/>
        <p:txBody>
          <a:bodyPr/>
          <a:lstStyle/>
          <a:p>
            <a:fld id="{82EE24B5-652C-4DB5-B7C3-B5BBEC1280B1}" type="slidenum">
              <a:rPr lang="en-US" smtClean="0"/>
              <a:t>2</a:t>
            </a:fld>
            <a:endParaRPr lang="en-US" dirty="0"/>
          </a:p>
        </p:txBody>
      </p:sp>
      <p:pic>
        <p:nvPicPr>
          <p:cNvPr id="28" name="Picture Placeholder 27" descr="Check icon">
            <a:extLst>
              <a:ext uri="{FF2B5EF4-FFF2-40B4-BE49-F238E27FC236}">
                <a16:creationId xmlns:a16="http://schemas.microsoft.com/office/drawing/2014/main" id="{3CDD98F8-113E-4FB2-A33D-039AFCD9C225}"/>
              </a:ext>
            </a:extLst>
          </p:cNvPr>
          <p:cNvPicPr>
            <a:picLocks noGrp="1" noChangeAspect="1"/>
          </p:cNvPicPr>
          <p:nvPr>
            <p:ph type="pic" sz="quarter" idx="19"/>
          </p:nvPr>
        </p:nvPicPr>
        <p:blipFill>
          <a:blip r:embed="rId4">
            <a:extLst>
              <a:ext uri="{28A0092B-C50C-407E-A947-70E740481C1C}">
                <a14:useLocalDpi xmlns:a14="http://schemas.microsoft.com/office/drawing/2010/main" val="0"/>
              </a:ext>
            </a:extLst>
          </a:blip>
          <a:srcRect/>
          <a:stretch>
            <a:fillRect/>
          </a:stretch>
        </p:blipFill>
        <p:spPr>
          <a:xfrm>
            <a:off x="1339726" y="2708434"/>
            <a:ext cx="720000" cy="720000"/>
          </a:xfrm>
        </p:spPr>
      </p:pic>
      <p:pic>
        <p:nvPicPr>
          <p:cNvPr id="30" name="Picture Placeholder 29" descr="Check icon">
            <a:extLst>
              <a:ext uri="{FF2B5EF4-FFF2-40B4-BE49-F238E27FC236}">
                <a16:creationId xmlns:a16="http://schemas.microsoft.com/office/drawing/2014/main" id="{3CFFE792-5644-4DB8-9A25-D855F9B155E1}"/>
              </a:ext>
            </a:extLst>
          </p:cNvPr>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a:stretch>
            <a:fillRect/>
          </a:stretch>
        </p:blipFill>
        <p:spPr>
          <a:xfrm>
            <a:off x="1339726" y="3483770"/>
            <a:ext cx="720000" cy="719999"/>
          </a:xfrm>
        </p:spPr>
      </p:pic>
      <p:sp>
        <p:nvSpPr>
          <p:cNvPr id="18" name="Text Placeholder 17">
            <a:extLst>
              <a:ext uri="{FF2B5EF4-FFF2-40B4-BE49-F238E27FC236}">
                <a16:creationId xmlns:a16="http://schemas.microsoft.com/office/drawing/2014/main" id="{C3A22FC4-1B49-46F9-A55E-33AACF2DEBBB}"/>
              </a:ext>
            </a:extLst>
          </p:cNvPr>
          <p:cNvSpPr>
            <a:spLocks noGrp="1"/>
          </p:cNvSpPr>
          <p:nvPr>
            <p:ph type="body" sz="half" idx="23"/>
          </p:nvPr>
        </p:nvSpPr>
        <p:spPr>
          <a:xfrm>
            <a:off x="2072475" y="3638054"/>
            <a:ext cx="4057961" cy="472239"/>
          </a:xfrm>
        </p:spPr>
        <p:txBody>
          <a:bodyPr/>
          <a:lstStyle/>
          <a:p>
            <a:r>
              <a:rPr lang="en-US" b="1" dirty="0"/>
              <a:t>Microsoft Power BI</a:t>
            </a:r>
          </a:p>
        </p:txBody>
      </p:sp>
      <p:pic>
        <p:nvPicPr>
          <p:cNvPr id="32" name="Picture Placeholder 31" descr="Check icon">
            <a:extLst>
              <a:ext uri="{FF2B5EF4-FFF2-40B4-BE49-F238E27FC236}">
                <a16:creationId xmlns:a16="http://schemas.microsoft.com/office/drawing/2014/main" id="{A80E0D18-9ED0-4449-BE73-35CBF01D1A4D}"/>
              </a:ext>
            </a:extLst>
          </p:cNvPr>
          <p:cNvPicPr>
            <a:picLocks noGrp="1" noChangeAspect="1"/>
          </p:cNvPicPr>
          <p:nvPr>
            <p:ph type="pic" sz="quarter" idx="24"/>
          </p:nvPr>
        </p:nvPicPr>
        <p:blipFill>
          <a:blip r:embed="rId4">
            <a:extLst>
              <a:ext uri="{28A0092B-C50C-407E-A947-70E740481C1C}">
                <a14:useLocalDpi xmlns:a14="http://schemas.microsoft.com/office/drawing/2010/main" val="0"/>
              </a:ext>
            </a:extLst>
          </a:blip>
          <a:srcRect/>
          <a:stretch>
            <a:fillRect/>
          </a:stretch>
        </p:blipFill>
        <p:spPr>
          <a:xfrm>
            <a:off x="1339726" y="4259105"/>
            <a:ext cx="720000" cy="719999"/>
          </a:xfrm>
        </p:spPr>
      </p:pic>
      <p:sp>
        <p:nvSpPr>
          <p:cNvPr id="20" name="Text Placeholder 19">
            <a:extLst>
              <a:ext uri="{FF2B5EF4-FFF2-40B4-BE49-F238E27FC236}">
                <a16:creationId xmlns:a16="http://schemas.microsoft.com/office/drawing/2014/main" id="{53C06E93-5E4C-46CA-9FB4-1640A2DC1748}"/>
              </a:ext>
            </a:extLst>
          </p:cNvPr>
          <p:cNvSpPr>
            <a:spLocks noGrp="1"/>
          </p:cNvSpPr>
          <p:nvPr>
            <p:ph type="body" sz="half" idx="25"/>
          </p:nvPr>
        </p:nvSpPr>
        <p:spPr>
          <a:xfrm>
            <a:off x="2072475" y="4433825"/>
            <a:ext cx="4057961" cy="402241"/>
          </a:xfrm>
        </p:spPr>
        <p:txBody>
          <a:bodyPr/>
          <a:lstStyle/>
          <a:p>
            <a:r>
              <a:rPr lang="en-US" b="1" dirty="0"/>
              <a:t>PowerPoint</a:t>
            </a:r>
          </a:p>
        </p:txBody>
      </p:sp>
      <p:sp>
        <p:nvSpPr>
          <p:cNvPr id="15" name="object 27" descr="Beige rectangle">
            <a:extLst>
              <a:ext uri="{FF2B5EF4-FFF2-40B4-BE49-F238E27FC236}">
                <a16:creationId xmlns:a16="http://schemas.microsoft.com/office/drawing/2014/main" id="{C5B67D68-F2A3-48A2-B2A0-C9DF8BA55D80}"/>
              </a:ext>
            </a:extLst>
          </p:cNvPr>
          <p:cNvSpPr/>
          <p:nvPr/>
        </p:nvSpPr>
        <p:spPr>
          <a:xfrm flipV="1">
            <a:off x="1473385" y="2395266"/>
            <a:ext cx="4032000" cy="75489"/>
          </a:xfrm>
          <a:custGeom>
            <a:avLst/>
            <a:gdLst/>
            <a:ahLst/>
            <a:cxnLst/>
            <a:rect l="l" t="t" r="r" b="b"/>
            <a:pathLst>
              <a:path w="2501265">
                <a:moveTo>
                  <a:pt x="0" y="0"/>
                </a:moveTo>
                <a:lnTo>
                  <a:pt x="2500883" y="0"/>
                </a:lnTo>
              </a:path>
            </a:pathLst>
          </a:custGeom>
          <a:ln w="54863">
            <a:solidFill>
              <a:schemeClr val="accent1"/>
            </a:solidFill>
          </a:ln>
        </p:spPr>
        <p:txBody>
          <a:bodyPr wrap="square" lIns="0" tIns="0" rIns="0" bIns="0" rtlCol="0"/>
          <a:lstStyle/>
          <a:p>
            <a:endParaRPr lang="en-US" dirty="0"/>
          </a:p>
        </p:txBody>
      </p:sp>
      <p:sp>
        <p:nvSpPr>
          <p:cNvPr id="2" name="Title 2">
            <a:extLst>
              <a:ext uri="{FF2B5EF4-FFF2-40B4-BE49-F238E27FC236}">
                <a16:creationId xmlns:a16="http://schemas.microsoft.com/office/drawing/2014/main" id="{5848FC49-2DF8-453F-FDE4-4CF1CD2B1955}"/>
              </a:ext>
            </a:extLst>
          </p:cNvPr>
          <p:cNvSpPr txBox="1">
            <a:spLocks/>
          </p:cNvSpPr>
          <p:nvPr/>
        </p:nvSpPr>
        <p:spPr>
          <a:xfrm>
            <a:off x="3898258" y="5600087"/>
            <a:ext cx="2529192" cy="402241"/>
          </a:xfrm>
          <a:prstGeom prst="rect">
            <a:avLst/>
          </a:prstGeom>
        </p:spPr>
        <p:txBody>
          <a:bodyPr vert="horz" lIns="91440" tIns="45720" rIns="91440" bIns="45720" rtlCol="0" anchor="t" anchorCtr="0">
            <a:normAutofit/>
          </a:bodyPr>
          <a:lstStyle>
            <a:lvl1pPr algn="l" defTabSz="914400" rtl="0" eaLnBrk="1" latinLnBrk="0" hangingPunct="1">
              <a:lnSpc>
                <a:spcPct val="90000"/>
              </a:lnSpc>
              <a:spcBef>
                <a:spcPct val="0"/>
              </a:spcBef>
              <a:buNone/>
              <a:defRPr sz="3200" b="1" kern="1200">
                <a:solidFill>
                  <a:schemeClr val="accent2"/>
                </a:solidFill>
                <a:latin typeface="+mj-lt"/>
                <a:ea typeface="+mj-ea"/>
                <a:cs typeface="+mj-cs"/>
              </a:defRPr>
            </a:lvl1pPr>
          </a:lstStyle>
          <a:p>
            <a:r>
              <a:rPr lang="en-US" sz="2000" dirty="0">
                <a:solidFill>
                  <a:schemeClr val="bg1"/>
                </a:solidFill>
              </a:rPr>
              <a:t>Date: July 2026</a:t>
            </a:r>
          </a:p>
        </p:txBody>
      </p:sp>
    </p:spTree>
    <p:extLst>
      <p:ext uri="{BB962C8B-B14F-4D97-AF65-F5344CB8AC3E}">
        <p14:creationId xmlns:p14="http://schemas.microsoft.com/office/powerpoint/2010/main" val="2824039953"/>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descr="Blue rectangle">
            <a:extLst>
              <a:ext uri="{FF2B5EF4-FFF2-40B4-BE49-F238E27FC236}">
                <a16:creationId xmlns:a16="http://schemas.microsoft.com/office/drawing/2014/main" id="{2CE364C2-643C-0B20-D458-87DB4DA6AF5C}"/>
              </a:ext>
            </a:extLst>
          </p:cNvPr>
          <p:cNvSpPr/>
          <p:nvPr/>
        </p:nvSpPr>
        <p:spPr>
          <a:xfrm>
            <a:off x="0" y="0"/>
            <a:ext cx="12188952" cy="6858000"/>
          </a:xfrm>
          <a:prstGeom prst="rect">
            <a:avLst/>
          </a:prstGeom>
          <a:blipFill>
            <a:blip r:embed="rId2"/>
            <a:srcRect/>
            <a:stretch>
              <a:fillRect l="-12" r="-12"/>
            </a:stretch>
          </a:blipFill>
        </p:spPr>
        <p:txBody>
          <a:bodyPr wrap="square" lIns="0" tIns="0" rIns="0" bIns="0" rtlCol="0"/>
          <a:lstStyle/>
          <a:p>
            <a:endParaRPr lang="en-US" dirty="0"/>
          </a:p>
        </p:txBody>
      </p:sp>
      <p:sp>
        <p:nvSpPr>
          <p:cNvPr id="10" name="object 3" descr="People with documents">
            <a:extLst>
              <a:ext uri="{FF2B5EF4-FFF2-40B4-BE49-F238E27FC236}">
                <a16:creationId xmlns:a16="http://schemas.microsoft.com/office/drawing/2014/main" id="{C148AB1F-417D-FE7C-3468-A7968693FA06}"/>
              </a:ext>
            </a:extLst>
          </p:cNvPr>
          <p:cNvSpPr/>
          <p:nvPr/>
        </p:nvSpPr>
        <p:spPr>
          <a:xfrm>
            <a:off x="-508" y="0"/>
            <a:ext cx="1218946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2" name="Title 1">
            <a:extLst>
              <a:ext uri="{FF2B5EF4-FFF2-40B4-BE49-F238E27FC236}">
                <a16:creationId xmlns:a16="http://schemas.microsoft.com/office/drawing/2014/main" id="{70855147-DE32-CD66-69A5-A82501D9FB00}"/>
              </a:ext>
            </a:extLst>
          </p:cNvPr>
          <p:cNvSpPr>
            <a:spLocks noGrp="1"/>
          </p:cNvSpPr>
          <p:nvPr>
            <p:ph type="title"/>
          </p:nvPr>
        </p:nvSpPr>
        <p:spPr/>
        <p:txBody>
          <a:bodyPr/>
          <a:lstStyle/>
          <a:p>
            <a:r>
              <a:rPr lang="en-US" dirty="0">
                <a:solidFill>
                  <a:schemeClr val="bg1"/>
                </a:solidFill>
              </a:rPr>
              <a:t>Project Objectives</a:t>
            </a:r>
          </a:p>
        </p:txBody>
      </p:sp>
      <p:sp>
        <p:nvSpPr>
          <p:cNvPr id="3" name="Content Placeholder 2">
            <a:extLst>
              <a:ext uri="{FF2B5EF4-FFF2-40B4-BE49-F238E27FC236}">
                <a16:creationId xmlns:a16="http://schemas.microsoft.com/office/drawing/2014/main" id="{9353AE10-5C75-2499-CED4-94D3D100D1F1}"/>
              </a:ext>
            </a:extLst>
          </p:cNvPr>
          <p:cNvSpPr>
            <a:spLocks noGrp="1"/>
          </p:cNvSpPr>
          <p:nvPr>
            <p:ph idx="1"/>
          </p:nvPr>
        </p:nvSpPr>
        <p:spPr/>
        <p:txBody>
          <a:bodyPr>
            <a:normAutofit lnSpcReduction="10000"/>
          </a:bodyPr>
          <a:lstStyle/>
          <a:p>
            <a:pPr>
              <a:lnSpc>
                <a:spcPct val="150000"/>
              </a:lnSpc>
            </a:pPr>
            <a:r>
              <a:rPr lang="en-US" sz="2400" b="1" dirty="0">
                <a:solidFill>
                  <a:schemeClr val="bg1"/>
                </a:solidFill>
              </a:rPr>
              <a:t>Identify the products generating the highest revenue and profit. </a:t>
            </a:r>
          </a:p>
          <a:p>
            <a:pPr>
              <a:lnSpc>
                <a:spcPct val="150000"/>
              </a:lnSpc>
            </a:pPr>
            <a:r>
              <a:rPr lang="en-US" sz="2400" b="1" dirty="0">
                <a:solidFill>
                  <a:schemeClr val="bg1"/>
                </a:solidFill>
              </a:rPr>
              <a:t>Determine the best-performing stores and regions.</a:t>
            </a:r>
          </a:p>
          <a:p>
            <a:pPr>
              <a:lnSpc>
                <a:spcPct val="150000"/>
              </a:lnSpc>
            </a:pPr>
            <a:r>
              <a:rPr lang="en-US" sz="2400" b="1" dirty="0">
                <a:solidFill>
                  <a:schemeClr val="bg1"/>
                </a:solidFill>
              </a:rPr>
              <a:t> Analyze revenue and profit trends over time.</a:t>
            </a:r>
          </a:p>
          <a:p>
            <a:pPr>
              <a:lnSpc>
                <a:spcPct val="150000"/>
              </a:lnSpc>
            </a:pPr>
            <a:r>
              <a:rPr lang="en-US" sz="2400" b="1" dirty="0">
                <a:solidFill>
                  <a:schemeClr val="bg1"/>
                </a:solidFill>
              </a:rPr>
              <a:t> Evaluate the performance of sales teams.</a:t>
            </a:r>
          </a:p>
          <a:p>
            <a:pPr>
              <a:lnSpc>
                <a:spcPct val="150000"/>
              </a:lnSpc>
            </a:pPr>
            <a:r>
              <a:rPr lang="en-US" sz="2400" b="1" dirty="0">
                <a:solidFill>
                  <a:schemeClr val="bg1"/>
                </a:solidFill>
              </a:rPr>
              <a:t> Assess the contribution of each sales channel. Identify overperforming and underperforming product categories.</a:t>
            </a:r>
          </a:p>
          <a:p>
            <a:pPr>
              <a:lnSpc>
                <a:spcPct val="150000"/>
              </a:lnSpc>
            </a:pPr>
            <a:r>
              <a:rPr lang="en-US" sz="2400" b="1" dirty="0">
                <a:solidFill>
                  <a:schemeClr val="bg1"/>
                </a:solidFill>
              </a:rPr>
              <a:t> Provide data-driven recommendations for business growth.</a:t>
            </a:r>
          </a:p>
        </p:txBody>
      </p:sp>
      <p:sp>
        <p:nvSpPr>
          <p:cNvPr id="4" name="Slide Number Placeholder 3">
            <a:extLst>
              <a:ext uri="{FF2B5EF4-FFF2-40B4-BE49-F238E27FC236}">
                <a16:creationId xmlns:a16="http://schemas.microsoft.com/office/drawing/2014/main" id="{CC0E07B2-FF88-2189-5D8F-793FA3A7AE36}"/>
              </a:ext>
            </a:extLst>
          </p:cNvPr>
          <p:cNvSpPr>
            <a:spLocks noGrp="1"/>
          </p:cNvSpPr>
          <p:nvPr>
            <p:ph type="sldNum" sz="quarter" idx="12"/>
          </p:nvPr>
        </p:nvSpPr>
        <p:spPr/>
        <p:txBody>
          <a:bodyPr/>
          <a:lstStyle/>
          <a:p>
            <a:fld id="{82EE24B5-652C-4DB5-B7C3-B5BBEC1280B1}" type="slidenum">
              <a:rPr lang="en-US" smtClean="0"/>
              <a:t>3</a:t>
            </a:fld>
            <a:endParaRPr lang="en-US" dirty="0"/>
          </a:p>
        </p:txBody>
      </p:sp>
    </p:spTree>
    <p:extLst>
      <p:ext uri="{BB962C8B-B14F-4D97-AF65-F5344CB8AC3E}">
        <p14:creationId xmlns:p14="http://schemas.microsoft.com/office/powerpoint/2010/main" val="3662633979"/>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descr="Man talks by phone">
            <a:extLst>
              <a:ext uri="{FF2B5EF4-FFF2-40B4-BE49-F238E27FC236}">
                <a16:creationId xmlns:a16="http://schemas.microsoft.com/office/drawing/2014/main" id="{2894B736-0F24-454E-8A9D-717EB78697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2" y="4665"/>
            <a:ext cx="6991350" cy="6848669"/>
          </a:xfrm>
          <a:prstGeom prst="rect">
            <a:avLst/>
          </a:prstGeom>
        </p:spPr>
      </p:pic>
      <p:sp>
        <p:nvSpPr>
          <p:cNvPr id="5" name="object 3" descr="Beige rectangle">
            <a:extLst>
              <a:ext uri="{FF2B5EF4-FFF2-40B4-BE49-F238E27FC236}">
                <a16:creationId xmlns:a16="http://schemas.microsoft.com/office/drawing/2014/main" id="{DCF29767-6635-4A46-AB77-672CC90C6FBE}"/>
              </a:ext>
            </a:extLst>
          </p:cNvPr>
          <p:cNvSpPr/>
          <p:nvPr/>
        </p:nvSpPr>
        <p:spPr>
          <a:xfrm>
            <a:off x="8181340" y="1359001"/>
            <a:ext cx="4010660" cy="4194074"/>
          </a:xfrm>
          <a:custGeom>
            <a:avLst/>
            <a:gdLst/>
            <a:ahLst/>
            <a:cxnLst/>
            <a:rect l="l" t="t" r="r" b="b"/>
            <a:pathLst>
              <a:path w="4010659" h="333375">
                <a:moveTo>
                  <a:pt x="0" y="333006"/>
                </a:moveTo>
                <a:lnTo>
                  <a:pt x="4010367" y="333006"/>
                </a:lnTo>
                <a:lnTo>
                  <a:pt x="4010367" y="0"/>
                </a:lnTo>
                <a:lnTo>
                  <a:pt x="0" y="0"/>
                </a:lnTo>
                <a:lnTo>
                  <a:pt x="0" y="333006"/>
                </a:lnTo>
                <a:close/>
              </a:path>
            </a:pathLst>
          </a:custGeom>
          <a:solidFill>
            <a:schemeClr val="accent1"/>
          </a:solidFill>
        </p:spPr>
        <p:txBody>
          <a:bodyPr wrap="square" lIns="0" tIns="0" rIns="0" bIns="0" rtlCol="0"/>
          <a:lstStyle/>
          <a:p>
            <a:endParaRPr lang="en-US" dirty="0"/>
          </a:p>
        </p:txBody>
      </p:sp>
      <p:sp>
        <p:nvSpPr>
          <p:cNvPr id="6" name="object 6" descr="Blue rectangle">
            <a:extLst>
              <a:ext uri="{FF2B5EF4-FFF2-40B4-BE49-F238E27FC236}">
                <a16:creationId xmlns:a16="http://schemas.microsoft.com/office/drawing/2014/main" id="{9FABC344-E043-45BE-8588-06C658DBCE70}"/>
              </a:ext>
            </a:extLst>
          </p:cNvPr>
          <p:cNvSpPr/>
          <p:nvPr/>
        </p:nvSpPr>
        <p:spPr>
          <a:xfrm>
            <a:off x="5502275" y="1692008"/>
            <a:ext cx="6689725" cy="3528060"/>
          </a:xfrm>
          <a:custGeom>
            <a:avLst/>
            <a:gdLst/>
            <a:ahLst/>
            <a:cxnLst/>
            <a:rect l="l" t="t" r="r" b="b"/>
            <a:pathLst>
              <a:path w="6689725" h="3528060">
                <a:moveTo>
                  <a:pt x="0" y="3527996"/>
                </a:moveTo>
                <a:lnTo>
                  <a:pt x="6689648" y="3527996"/>
                </a:lnTo>
                <a:lnTo>
                  <a:pt x="6689648" y="0"/>
                </a:lnTo>
                <a:lnTo>
                  <a:pt x="0" y="0"/>
                </a:lnTo>
                <a:lnTo>
                  <a:pt x="0" y="3527996"/>
                </a:lnTo>
                <a:close/>
              </a:path>
            </a:pathLst>
          </a:custGeom>
          <a:solidFill>
            <a:schemeClr val="accent2"/>
          </a:solidFill>
        </p:spPr>
        <p:txBody>
          <a:bodyPr wrap="square" lIns="0" tIns="0" rIns="0" bIns="0" rtlCol="0"/>
          <a:lstStyle/>
          <a:p>
            <a:endParaRPr lang="en-US" dirty="0"/>
          </a:p>
        </p:txBody>
      </p:sp>
      <p:sp>
        <p:nvSpPr>
          <p:cNvPr id="2" name="Title 1">
            <a:extLst>
              <a:ext uri="{FF2B5EF4-FFF2-40B4-BE49-F238E27FC236}">
                <a16:creationId xmlns:a16="http://schemas.microsoft.com/office/drawing/2014/main" id="{345C5720-51D4-4632-91CD-936B8AB96750}"/>
              </a:ext>
            </a:extLst>
          </p:cNvPr>
          <p:cNvSpPr>
            <a:spLocks noGrp="1"/>
          </p:cNvSpPr>
          <p:nvPr>
            <p:ph type="title"/>
          </p:nvPr>
        </p:nvSpPr>
        <p:spPr>
          <a:xfrm>
            <a:off x="6207698" y="2331086"/>
            <a:ext cx="5165558" cy="833856"/>
          </a:xfrm>
        </p:spPr>
        <p:txBody>
          <a:bodyPr/>
          <a:lstStyle/>
          <a:p>
            <a:r>
              <a:rPr lang="en-US" dirty="0">
                <a:solidFill>
                  <a:schemeClr val="bg1"/>
                </a:solidFill>
              </a:rPr>
              <a:t>PROJECT OVERVIEW</a:t>
            </a:r>
            <a:endParaRPr lang="en-US" dirty="0">
              <a:solidFill>
                <a:schemeClr val="bg1"/>
              </a:solidFill>
              <a:latin typeface="Gill Sans MT" panose="020B0502020104020203" pitchFamily="34" charset="0"/>
            </a:endParaRPr>
          </a:p>
        </p:txBody>
      </p:sp>
      <p:sp>
        <p:nvSpPr>
          <p:cNvPr id="3" name="Slide Number Placeholder 2">
            <a:extLst>
              <a:ext uri="{FF2B5EF4-FFF2-40B4-BE49-F238E27FC236}">
                <a16:creationId xmlns:a16="http://schemas.microsoft.com/office/drawing/2014/main" id="{24D506CC-0185-443E-82C7-1600C21D6E91}"/>
              </a:ext>
            </a:extLst>
          </p:cNvPr>
          <p:cNvSpPr>
            <a:spLocks noGrp="1"/>
          </p:cNvSpPr>
          <p:nvPr>
            <p:ph type="sldNum" sz="quarter" idx="12"/>
          </p:nvPr>
        </p:nvSpPr>
        <p:spPr/>
        <p:txBody>
          <a:bodyPr/>
          <a:lstStyle/>
          <a:p>
            <a:fld id="{82EE24B5-652C-4DB5-B7C3-B5BBEC1280B1}" type="slidenum">
              <a:rPr lang="en-US" smtClean="0"/>
              <a:t>4</a:t>
            </a:fld>
            <a:endParaRPr lang="en-US" dirty="0"/>
          </a:p>
        </p:txBody>
      </p:sp>
      <p:sp>
        <p:nvSpPr>
          <p:cNvPr id="7" name="object 9" descr="Beige rectangle">
            <a:extLst>
              <a:ext uri="{FF2B5EF4-FFF2-40B4-BE49-F238E27FC236}">
                <a16:creationId xmlns:a16="http://schemas.microsoft.com/office/drawing/2014/main" id="{02C6628C-972C-4717-AAF3-D882B30F6658}"/>
              </a:ext>
            </a:extLst>
          </p:cNvPr>
          <p:cNvSpPr/>
          <p:nvPr/>
        </p:nvSpPr>
        <p:spPr>
          <a:xfrm>
            <a:off x="6313932" y="3035554"/>
            <a:ext cx="2988000" cy="0"/>
          </a:xfrm>
          <a:custGeom>
            <a:avLst/>
            <a:gdLst/>
            <a:ahLst/>
            <a:cxnLst/>
            <a:rect l="l" t="t" r="r" b="b"/>
            <a:pathLst>
              <a:path w="2642870">
                <a:moveTo>
                  <a:pt x="0" y="0"/>
                </a:moveTo>
                <a:lnTo>
                  <a:pt x="2642616" y="0"/>
                </a:lnTo>
              </a:path>
            </a:pathLst>
          </a:custGeom>
          <a:ln w="54863">
            <a:solidFill>
              <a:schemeClr val="accent1"/>
            </a:solidFill>
          </a:ln>
        </p:spPr>
        <p:txBody>
          <a:bodyPr wrap="square" lIns="0" tIns="0" rIns="0" bIns="0" rtlCol="0"/>
          <a:lstStyle/>
          <a:p>
            <a:endParaRPr lang="en-US" dirty="0"/>
          </a:p>
        </p:txBody>
      </p:sp>
      <p:sp>
        <p:nvSpPr>
          <p:cNvPr id="9" name="Content Placeholder 3">
            <a:extLst>
              <a:ext uri="{FF2B5EF4-FFF2-40B4-BE49-F238E27FC236}">
                <a16:creationId xmlns:a16="http://schemas.microsoft.com/office/drawing/2014/main" id="{E7A818AB-B120-41D5-88A6-933AB9CAAE68}"/>
              </a:ext>
            </a:extLst>
          </p:cNvPr>
          <p:cNvSpPr txBox="1">
            <a:spLocks/>
          </p:cNvSpPr>
          <p:nvPr/>
        </p:nvSpPr>
        <p:spPr>
          <a:xfrm>
            <a:off x="6188242" y="3217631"/>
            <a:ext cx="5181600" cy="1603375"/>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800" dirty="0">
                <a:solidFill>
                  <a:schemeClr val="bg1"/>
                </a:solidFill>
              </a:rPr>
              <a:t>This project analyzes an online retail sales dataset to evaluate business performance across products, stores, sales teams, regions, and sales channels. SQL was used for data cleaning and transformation, while Power BI was used to build an interactive dashboard for business intelligence and decision-making.</a:t>
            </a:r>
            <a:endParaRPr lang="en-US" sz="1800" i="1" spc="-25" dirty="0">
              <a:solidFill>
                <a:schemeClr val="bg1"/>
              </a:solidFill>
              <a:latin typeface="Arial"/>
              <a:cs typeface="Arial"/>
            </a:endParaRPr>
          </a:p>
        </p:txBody>
      </p:sp>
    </p:spTree>
    <p:extLst>
      <p:ext uri="{BB962C8B-B14F-4D97-AF65-F5344CB8AC3E}">
        <p14:creationId xmlns:p14="http://schemas.microsoft.com/office/powerpoint/2010/main" val="179394973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7D87B918-371C-4B31-9C7A-1D9A08C8A3BB}"/>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1200" y="0"/>
            <a:ext cx="12189600" cy="6856650"/>
          </a:xfrm>
        </p:spPr>
      </p:pic>
      <p:sp>
        <p:nvSpPr>
          <p:cNvPr id="8" name="object 3" descr="Blue rectangle">
            <a:extLst>
              <a:ext uri="{FF2B5EF4-FFF2-40B4-BE49-F238E27FC236}">
                <a16:creationId xmlns:a16="http://schemas.microsoft.com/office/drawing/2014/main" id="{A277388B-76FD-44C4-B506-F8A157E57C65}"/>
              </a:ext>
            </a:extLst>
          </p:cNvPr>
          <p:cNvSpPr/>
          <p:nvPr/>
        </p:nvSpPr>
        <p:spPr>
          <a:xfrm>
            <a:off x="1200" y="0"/>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9" name="Oval 8" descr="Beige oval">
            <a:extLst>
              <a:ext uri="{FF2B5EF4-FFF2-40B4-BE49-F238E27FC236}">
                <a16:creationId xmlns:a16="http://schemas.microsoft.com/office/drawing/2014/main" id="{1191A09B-8CB4-416A-B1F9-ABC3B476DE1F}"/>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4D00B79-44BB-4D5F-B51D-2270A854D77A}"/>
              </a:ext>
            </a:extLst>
          </p:cNvPr>
          <p:cNvSpPr>
            <a:spLocks noGrp="1"/>
          </p:cNvSpPr>
          <p:nvPr>
            <p:ph type="title"/>
          </p:nvPr>
        </p:nvSpPr>
        <p:spPr>
          <a:xfrm>
            <a:off x="806116" y="329956"/>
            <a:ext cx="10515600" cy="1325563"/>
          </a:xfrm>
        </p:spPr>
        <p:txBody>
          <a:bodyPr/>
          <a:lstStyle/>
          <a:p>
            <a:r>
              <a:rPr lang="en-US" dirty="0">
                <a:solidFill>
                  <a:schemeClr val="bg1"/>
                </a:solidFill>
              </a:rPr>
              <a:t>Executive Summary</a:t>
            </a:r>
            <a:endParaRPr lang="en-US" dirty="0"/>
          </a:p>
        </p:txBody>
      </p:sp>
      <p:sp>
        <p:nvSpPr>
          <p:cNvPr id="5" name="Slide Number Placeholder 4">
            <a:extLst>
              <a:ext uri="{FF2B5EF4-FFF2-40B4-BE49-F238E27FC236}">
                <a16:creationId xmlns:a16="http://schemas.microsoft.com/office/drawing/2014/main" id="{CDF3C1EE-D9A0-406A-9A3A-75C82527E0DC}"/>
              </a:ext>
            </a:extLst>
          </p:cNvPr>
          <p:cNvSpPr>
            <a:spLocks noGrp="1"/>
          </p:cNvSpPr>
          <p:nvPr>
            <p:ph type="sldNum" sz="quarter" idx="12"/>
          </p:nvPr>
        </p:nvSpPr>
        <p:spPr/>
        <p:txBody>
          <a:bodyPr/>
          <a:lstStyle/>
          <a:p>
            <a:fld id="{82EE24B5-652C-4DB5-B7C3-B5BBEC1280B1}" type="slidenum">
              <a:rPr lang="en-US" smtClean="0"/>
              <a:t>5</a:t>
            </a:fld>
            <a:endParaRPr lang="en-US" dirty="0"/>
          </a:p>
        </p:txBody>
      </p:sp>
      <p:graphicFrame>
        <p:nvGraphicFramePr>
          <p:cNvPr id="13" name="Content Placeholder 12" descr="Table">
            <a:extLst>
              <a:ext uri="{FF2B5EF4-FFF2-40B4-BE49-F238E27FC236}">
                <a16:creationId xmlns:a16="http://schemas.microsoft.com/office/drawing/2014/main" id="{1D6AB21B-0AB3-44DD-AD8E-D2EDD77DEA42}"/>
              </a:ext>
            </a:extLst>
          </p:cNvPr>
          <p:cNvGraphicFramePr>
            <a:graphicFrameLocks noGrp="1"/>
          </p:cNvGraphicFramePr>
          <p:nvPr>
            <p:ph sz="half" idx="4294967295"/>
            <p:extLst>
              <p:ext uri="{D42A27DB-BD31-4B8C-83A1-F6EECF244321}">
                <p14:modId xmlns:p14="http://schemas.microsoft.com/office/powerpoint/2010/main" val="3565813404"/>
              </p:ext>
            </p:extLst>
          </p:nvPr>
        </p:nvGraphicFramePr>
        <p:xfrm>
          <a:off x="859454" y="2544763"/>
          <a:ext cx="10473092" cy="1587120"/>
        </p:xfrm>
        <a:graphic>
          <a:graphicData uri="http://schemas.openxmlformats.org/drawingml/2006/table">
            <a:tbl>
              <a:tblPr firstRow="1" bandRow="1">
                <a:tableStyleId>{5C22544A-7EE6-4342-B048-85BDC9FD1C3A}</a:tableStyleId>
              </a:tblPr>
              <a:tblGrid>
                <a:gridCol w="2094618">
                  <a:extLst>
                    <a:ext uri="{9D8B030D-6E8A-4147-A177-3AD203B41FA5}">
                      <a16:colId xmlns:a16="http://schemas.microsoft.com/office/drawing/2014/main" val="3572385518"/>
                    </a:ext>
                  </a:extLst>
                </a:gridCol>
                <a:gridCol w="2094618">
                  <a:extLst>
                    <a:ext uri="{9D8B030D-6E8A-4147-A177-3AD203B41FA5}">
                      <a16:colId xmlns:a16="http://schemas.microsoft.com/office/drawing/2014/main" val="1440817424"/>
                    </a:ext>
                  </a:extLst>
                </a:gridCol>
                <a:gridCol w="2094620">
                  <a:extLst>
                    <a:ext uri="{9D8B030D-6E8A-4147-A177-3AD203B41FA5}">
                      <a16:colId xmlns:a16="http://schemas.microsoft.com/office/drawing/2014/main" val="1835666774"/>
                    </a:ext>
                  </a:extLst>
                </a:gridCol>
                <a:gridCol w="2094618">
                  <a:extLst>
                    <a:ext uri="{9D8B030D-6E8A-4147-A177-3AD203B41FA5}">
                      <a16:colId xmlns:a16="http://schemas.microsoft.com/office/drawing/2014/main" val="3312468757"/>
                    </a:ext>
                  </a:extLst>
                </a:gridCol>
                <a:gridCol w="2094618">
                  <a:extLst>
                    <a:ext uri="{9D8B030D-6E8A-4147-A177-3AD203B41FA5}">
                      <a16:colId xmlns:a16="http://schemas.microsoft.com/office/drawing/2014/main" val="388103177"/>
                    </a:ext>
                  </a:extLst>
                </a:gridCol>
              </a:tblGrid>
              <a:tr h="370840">
                <a:tc>
                  <a:txBody>
                    <a:bodyPr/>
                    <a:lstStyle/>
                    <a:p>
                      <a:pPr algn="ctr"/>
                      <a:r>
                        <a:rPr lang="ru-RU" sz="3200" b="1" dirty="0">
                          <a:solidFill>
                            <a:schemeClr val="accent1"/>
                          </a:solidFill>
                          <a:latin typeface="+mj-lt"/>
                        </a:rPr>
                        <a:t>10</a:t>
                      </a:r>
                      <a:r>
                        <a:rPr lang="en-US" sz="3200" b="1" dirty="0">
                          <a:solidFill>
                            <a:schemeClr val="accent1"/>
                          </a:solidFill>
                          <a:latin typeface="+mj-lt"/>
                        </a:rPr>
                        <a:t>00</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3200" b="1" dirty="0">
                          <a:solidFill>
                            <a:schemeClr val="accent1"/>
                          </a:solidFill>
                          <a:latin typeface="+mj-lt"/>
                        </a:rPr>
                        <a:t>$2.25M</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3200" b="1" dirty="0">
                          <a:solidFill>
                            <a:schemeClr val="accent1"/>
                          </a:solidFill>
                          <a:latin typeface="+mj-lt"/>
                        </a:rPr>
                        <a:t>28.57%</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3200" b="1" dirty="0">
                          <a:solidFill>
                            <a:schemeClr val="accent1"/>
                          </a:solidFill>
                          <a:latin typeface="+mj-lt"/>
                        </a:rPr>
                        <a:t>$644,000</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3200" b="1" dirty="0">
                          <a:solidFill>
                            <a:schemeClr val="accent1"/>
                          </a:solidFill>
                          <a:latin typeface="+mj-lt"/>
                        </a:rPr>
                        <a:t>6000</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88120738"/>
                  </a:ext>
                </a:extLst>
              </a:tr>
              <a:tr h="100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800" i="1" kern="1200" spc="-25" dirty="0">
                          <a:solidFill>
                            <a:schemeClr val="bg2">
                              <a:lumMod val="20000"/>
                              <a:lumOff val="80000"/>
                            </a:schemeClr>
                          </a:solidFill>
                          <a:latin typeface="+mn-lt"/>
                          <a:ea typeface="+mn-ea"/>
                          <a:cs typeface="Arial"/>
                        </a:rPr>
                        <a:t>Custormer orders</a:t>
                      </a:r>
                      <a:endParaRPr lang="en-US" sz="1800" i="1" kern="1200" spc="-25" dirty="0">
                        <a:solidFill>
                          <a:schemeClr val="bg2">
                            <a:lumMod val="20000"/>
                            <a:lumOff val="80000"/>
                          </a:schemeClr>
                        </a:solidFill>
                        <a:latin typeface="+mn-lt"/>
                        <a:ea typeface="+mn-ea"/>
                        <a:cs typeface="Aria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800" b="0" i="1" u="none" strike="noStrike" kern="1200" cap="none" spc="-25" normalizeH="0" baseline="0" noProof="0" dirty="0">
                          <a:ln>
                            <a:noFill/>
                          </a:ln>
                          <a:solidFill>
                            <a:srgbClr val="64B2C1">
                              <a:lumMod val="20000"/>
                              <a:lumOff val="80000"/>
                            </a:srgbClr>
                          </a:solidFill>
                          <a:effectLst/>
                          <a:uLnTx/>
                          <a:uFillTx/>
                          <a:latin typeface="Arial "/>
                          <a:ea typeface="+mn-ea"/>
                          <a:cs typeface="Arial"/>
                        </a:rPr>
                        <a:t>Total Revenue</a:t>
                      </a:r>
                      <a:endParaRPr lang="en-US" sz="1800" i="1" kern="1200" spc="-25" dirty="0">
                        <a:solidFill>
                          <a:schemeClr val="bg2">
                            <a:lumMod val="20000"/>
                            <a:lumOff val="80000"/>
                          </a:schemeClr>
                        </a:solidFill>
                        <a:latin typeface="+mn-lt"/>
                        <a:ea typeface="+mn-ea"/>
                        <a:cs typeface="Aria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800" b="0" i="1" u="none" strike="noStrike" kern="1200" cap="none" spc="-25" normalizeH="0" baseline="0" noProof="0" dirty="0">
                          <a:ln>
                            <a:noFill/>
                          </a:ln>
                          <a:solidFill>
                            <a:srgbClr val="64B2C1">
                              <a:lumMod val="20000"/>
                              <a:lumOff val="80000"/>
                            </a:srgbClr>
                          </a:solidFill>
                          <a:effectLst/>
                          <a:uLnTx/>
                          <a:uFillTx/>
                          <a:latin typeface="Arial "/>
                          <a:ea typeface="+mn-ea"/>
                          <a:cs typeface="Arial"/>
                        </a:rPr>
                        <a:t>Profit Margin</a:t>
                      </a:r>
                      <a:endParaRPr lang="en-US" sz="1800" i="1" kern="1200" spc="-25" dirty="0">
                        <a:solidFill>
                          <a:schemeClr val="bg2">
                            <a:lumMod val="20000"/>
                            <a:lumOff val="80000"/>
                          </a:schemeClr>
                        </a:solidFill>
                        <a:latin typeface="+mn-lt"/>
                        <a:ea typeface="+mn-ea"/>
                        <a:cs typeface="Aria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800" b="0" i="1" u="none" strike="noStrike" kern="1200" cap="none" spc="-25" normalizeH="0" baseline="0" noProof="0" dirty="0">
                          <a:ln>
                            <a:noFill/>
                          </a:ln>
                          <a:solidFill>
                            <a:srgbClr val="64B2C1">
                              <a:lumMod val="20000"/>
                              <a:lumOff val="80000"/>
                            </a:srgbClr>
                          </a:solidFill>
                          <a:effectLst/>
                          <a:uLnTx/>
                          <a:uFillTx/>
                          <a:latin typeface="Arial "/>
                          <a:ea typeface="+mn-ea"/>
                          <a:cs typeface="Arial"/>
                        </a:rPr>
                        <a:t>Total Profit Generated</a:t>
                      </a:r>
                      <a:endParaRPr lang="en-US" sz="1800" i="1" kern="1200" spc="-25" dirty="0">
                        <a:solidFill>
                          <a:schemeClr val="bg2">
                            <a:lumMod val="20000"/>
                            <a:lumOff val="80000"/>
                          </a:schemeClr>
                        </a:solidFill>
                        <a:latin typeface="+mn-lt"/>
                        <a:ea typeface="+mn-ea"/>
                        <a:cs typeface="Aria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800" b="0" i="1" u="none" strike="noStrike" kern="1200" cap="none" spc="-25" normalizeH="0" baseline="0" noProof="0" dirty="0">
                          <a:ln>
                            <a:noFill/>
                          </a:ln>
                          <a:solidFill>
                            <a:srgbClr val="64B2C1">
                              <a:lumMod val="20000"/>
                              <a:lumOff val="80000"/>
                            </a:srgbClr>
                          </a:solidFill>
                          <a:effectLst/>
                          <a:uLnTx/>
                          <a:uFillTx/>
                          <a:latin typeface="Arial "/>
                          <a:ea typeface="+mn-ea"/>
                          <a:cs typeface="Arial"/>
                        </a:rPr>
                        <a:t>Units Sold</a:t>
                      </a:r>
                      <a:endParaRPr lang="en-US" sz="1800" i="1" kern="1200" spc="-25" dirty="0">
                        <a:solidFill>
                          <a:schemeClr val="bg2">
                            <a:lumMod val="20000"/>
                            <a:lumOff val="80000"/>
                          </a:schemeClr>
                        </a:solidFill>
                        <a:latin typeface="+mn-lt"/>
                        <a:ea typeface="+mn-ea"/>
                        <a:cs typeface="Aria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5001753"/>
                  </a:ext>
                </a:extLst>
              </a:tr>
            </a:tbl>
          </a:graphicData>
        </a:graphic>
      </p:graphicFrame>
      <p:sp>
        <p:nvSpPr>
          <p:cNvPr id="11" name="object 5" descr="Beige rectangle">
            <a:extLst>
              <a:ext uri="{FF2B5EF4-FFF2-40B4-BE49-F238E27FC236}">
                <a16:creationId xmlns:a16="http://schemas.microsoft.com/office/drawing/2014/main" id="{B07BA1F9-2C19-4C07-B29B-18B9FBCC4755}"/>
              </a:ext>
            </a:extLst>
          </p:cNvPr>
          <p:cNvSpPr/>
          <p:nvPr/>
        </p:nvSpPr>
        <p:spPr>
          <a:xfrm>
            <a:off x="915637" y="1309144"/>
            <a:ext cx="4608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cxnSp>
        <p:nvCxnSpPr>
          <p:cNvPr id="10" name="Straight Connector 9" descr="Line">
            <a:extLst>
              <a:ext uri="{FF2B5EF4-FFF2-40B4-BE49-F238E27FC236}">
                <a16:creationId xmlns:a16="http://schemas.microsoft.com/office/drawing/2014/main" id="{4C3F4FC5-0C01-4592-9483-D476EA2BDF93}"/>
              </a:ext>
            </a:extLst>
          </p:cNvPr>
          <p:cNvCxnSpPr/>
          <p:nvPr/>
        </p:nvCxnSpPr>
        <p:spPr>
          <a:xfrm>
            <a:off x="6096000" y="4124378"/>
            <a:ext cx="0" cy="39600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470199D-DDAE-4D88-9F00-88EB8E080218}"/>
              </a:ext>
            </a:extLst>
          </p:cNvPr>
          <p:cNvSpPr/>
          <p:nvPr/>
        </p:nvSpPr>
        <p:spPr>
          <a:xfrm>
            <a:off x="4583907" y="4510420"/>
            <a:ext cx="3024187" cy="647700"/>
          </a:xfrm>
          <a:prstGeom prst="rect">
            <a:avLst/>
          </a:prstGeom>
          <a:solidFill>
            <a:schemeClr val="accent1"/>
          </a:solidFill>
        </p:spPr>
        <p:txBody>
          <a:bodyPr wrap="square" anchor="ctr" anchorCtr="0">
            <a:noAutofit/>
          </a:bodyPr>
          <a:lstStyle/>
          <a:p>
            <a:pPr algn="ctr">
              <a:lnSpc>
                <a:spcPct val="100000"/>
              </a:lnSpc>
              <a:spcBef>
                <a:spcPts val="1055"/>
              </a:spcBef>
            </a:pPr>
            <a:r>
              <a:rPr lang="en-US" sz="3000" dirty="0">
                <a:solidFill>
                  <a:schemeClr val="tx2"/>
                </a:solidFill>
                <a:latin typeface="+mj-lt"/>
              </a:rPr>
              <a:t>SUCCESS</a:t>
            </a:r>
          </a:p>
        </p:txBody>
      </p:sp>
    </p:spTree>
    <p:extLst>
      <p:ext uri="{BB962C8B-B14F-4D97-AF65-F5344CB8AC3E}">
        <p14:creationId xmlns:p14="http://schemas.microsoft.com/office/powerpoint/2010/main" val="2263215859"/>
      </p:ext>
    </p:extLst>
  </p:cSld>
  <p:clrMapOvr>
    <a:masterClrMapping/>
  </p:clrMapOvr>
  <mc:AlternateContent xmlns:mc="http://schemas.openxmlformats.org/markup-compatibility/2006">
    <mc:Choice xmlns:p14="http://schemas.microsoft.com/office/powerpoint/2010/main" Requires="p14">
      <p:transition spd="slow" p14:dur="2000">
        <p:wipe/>
      </p:transition>
    </mc:Choice>
    <mc:Fallback>
      <p:transition spd="slow">
        <p:wip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 name="Content Placeholder 11" descr="Chart">
            <a:extLst>
              <a:ext uri="{FF2B5EF4-FFF2-40B4-BE49-F238E27FC236}">
                <a16:creationId xmlns:a16="http://schemas.microsoft.com/office/drawing/2014/main" id="{4B8F47FF-84A1-4BFF-9183-1D0D75899671}"/>
              </a:ext>
            </a:extLst>
          </p:cNvPr>
          <p:cNvGraphicFramePr>
            <a:graphicFrameLocks/>
          </p:cNvGraphicFramePr>
          <p:nvPr>
            <p:extLst>
              <p:ext uri="{D42A27DB-BD31-4B8C-83A1-F6EECF244321}">
                <p14:modId xmlns:p14="http://schemas.microsoft.com/office/powerpoint/2010/main" val="3112522695"/>
              </p:ext>
            </p:extLst>
          </p:nvPr>
        </p:nvGraphicFramePr>
        <p:xfrm>
          <a:off x="6648675" y="2053173"/>
          <a:ext cx="1481012" cy="1161017"/>
        </p:xfrm>
        <a:graphic>
          <a:graphicData uri="http://schemas.openxmlformats.org/drawingml/2006/chart">
            <c:chart xmlns:c="http://schemas.openxmlformats.org/drawingml/2006/chart" xmlns:r="http://schemas.openxmlformats.org/officeDocument/2006/relationships" r:id="rId3"/>
          </a:graphicData>
        </a:graphic>
      </p:graphicFrame>
      <p:sp>
        <p:nvSpPr>
          <p:cNvPr id="2" name="Slide Number Placeholder 1">
            <a:extLst>
              <a:ext uri="{FF2B5EF4-FFF2-40B4-BE49-F238E27FC236}">
                <a16:creationId xmlns:a16="http://schemas.microsoft.com/office/drawing/2014/main" id="{6A8AF702-A859-4D49-823E-455702872718}"/>
              </a:ext>
            </a:extLst>
          </p:cNvPr>
          <p:cNvSpPr>
            <a:spLocks noGrp="1"/>
          </p:cNvSpPr>
          <p:nvPr>
            <p:ph type="sldNum" sz="quarter" idx="12"/>
          </p:nvPr>
        </p:nvSpPr>
        <p:spPr/>
        <p:txBody>
          <a:bodyPr/>
          <a:lstStyle/>
          <a:p>
            <a:fld id="{82EE24B5-652C-4DB5-B7C3-B5BBEC1280B1}" type="slidenum">
              <a:rPr lang="en-US" smtClean="0"/>
              <a:t>6</a:t>
            </a:fld>
            <a:endParaRPr lang="en-US" dirty="0"/>
          </a:p>
        </p:txBody>
      </p:sp>
      <p:sp>
        <p:nvSpPr>
          <p:cNvPr id="3" name="Title 2">
            <a:extLst>
              <a:ext uri="{FF2B5EF4-FFF2-40B4-BE49-F238E27FC236}">
                <a16:creationId xmlns:a16="http://schemas.microsoft.com/office/drawing/2014/main" id="{6D5D9271-B659-4A45-8868-BAEC4EF7D1F1}"/>
              </a:ext>
            </a:extLst>
          </p:cNvPr>
          <p:cNvSpPr>
            <a:spLocks noGrp="1"/>
          </p:cNvSpPr>
          <p:nvPr>
            <p:ph type="title"/>
          </p:nvPr>
        </p:nvSpPr>
        <p:spPr>
          <a:xfrm>
            <a:off x="820410" y="361567"/>
            <a:ext cx="10515600" cy="1325563"/>
          </a:xfrm>
        </p:spPr>
        <p:txBody>
          <a:bodyPr>
            <a:normAutofit/>
          </a:bodyPr>
          <a:lstStyle/>
          <a:p>
            <a:r>
              <a:rPr lang="en-US" dirty="0"/>
              <a:t>Revenue Contribution by Product Category</a:t>
            </a:r>
          </a:p>
        </p:txBody>
      </p:sp>
      <p:graphicFrame>
        <p:nvGraphicFramePr>
          <p:cNvPr id="27" name="Content Placeholder 26" descr="Chart">
            <a:extLst>
              <a:ext uri="{FF2B5EF4-FFF2-40B4-BE49-F238E27FC236}">
                <a16:creationId xmlns:a16="http://schemas.microsoft.com/office/drawing/2014/main" id="{8B7962D3-FAFD-4B86-A9C4-A868A9DF6045}"/>
              </a:ext>
            </a:extLst>
          </p:cNvPr>
          <p:cNvGraphicFramePr>
            <a:graphicFrameLocks noGrp="1"/>
          </p:cNvGraphicFramePr>
          <p:nvPr>
            <p:ph sz="half" idx="13"/>
            <p:extLst>
              <p:ext uri="{D42A27DB-BD31-4B8C-83A1-F6EECF244321}">
                <p14:modId xmlns:p14="http://schemas.microsoft.com/office/powerpoint/2010/main" val="3368832803"/>
              </p:ext>
            </p:extLst>
          </p:nvPr>
        </p:nvGraphicFramePr>
        <p:xfrm>
          <a:off x="643380" y="2053173"/>
          <a:ext cx="1316880" cy="116134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ontent Placeholder 11" descr="Chart">
            <a:extLst>
              <a:ext uri="{FF2B5EF4-FFF2-40B4-BE49-F238E27FC236}">
                <a16:creationId xmlns:a16="http://schemas.microsoft.com/office/drawing/2014/main" id="{B880674A-C407-4235-A8D0-4F3C148E035B}"/>
              </a:ext>
            </a:extLst>
          </p:cNvPr>
          <p:cNvGraphicFramePr>
            <a:graphicFrameLocks/>
          </p:cNvGraphicFramePr>
          <p:nvPr>
            <p:extLst>
              <p:ext uri="{D42A27DB-BD31-4B8C-83A1-F6EECF244321}">
                <p14:modId xmlns:p14="http://schemas.microsoft.com/office/powerpoint/2010/main" val="2293104480"/>
              </p:ext>
            </p:extLst>
          </p:nvPr>
        </p:nvGraphicFramePr>
        <p:xfrm>
          <a:off x="1930164" y="2053173"/>
          <a:ext cx="1481012" cy="116101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Content Placeholder 11" descr="Chart">
            <a:extLst>
              <a:ext uri="{FF2B5EF4-FFF2-40B4-BE49-F238E27FC236}">
                <a16:creationId xmlns:a16="http://schemas.microsoft.com/office/drawing/2014/main" id="{4965B496-2DD8-4644-BD32-C792562A4A9B}"/>
              </a:ext>
            </a:extLst>
          </p:cNvPr>
          <p:cNvGraphicFramePr>
            <a:graphicFrameLocks/>
          </p:cNvGraphicFramePr>
          <p:nvPr>
            <p:extLst>
              <p:ext uri="{D42A27DB-BD31-4B8C-83A1-F6EECF244321}">
                <p14:modId xmlns:p14="http://schemas.microsoft.com/office/powerpoint/2010/main" val="1383607971"/>
              </p:ext>
            </p:extLst>
          </p:nvPr>
        </p:nvGraphicFramePr>
        <p:xfrm>
          <a:off x="3381080" y="2053173"/>
          <a:ext cx="1481012" cy="116101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4" name="Content Placeholder 11" descr="Chart">
            <a:extLst>
              <a:ext uri="{FF2B5EF4-FFF2-40B4-BE49-F238E27FC236}">
                <a16:creationId xmlns:a16="http://schemas.microsoft.com/office/drawing/2014/main" id="{929A89A4-A764-4573-A43E-D883B54D5791}"/>
              </a:ext>
            </a:extLst>
          </p:cNvPr>
          <p:cNvGraphicFramePr>
            <a:graphicFrameLocks/>
          </p:cNvGraphicFramePr>
          <p:nvPr>
            <p:extLst>
              <p:ext uri="{D42A27DB-BD31-4B8C-83A1-F6EECF244321}">
                <p14:modId xmlns:p14="http://schemas.microsoft.com/office/powerpoint/2010/main" val="64739250"/>
              </p:ext>
            </p:extLst>
          </p:nvPr>
        </p:nvGraphicFramePr>
        <p:xfrm>
          <a:off x="5197759" y="2053173"/>
          <a:ext cx="1481012" cy="116101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5" name="Content Placeholder 11" descr="Chart">
            <a:extLst>
              <a:ext uri="{FF2B5EF4-FFF2-40B4-BE49-F238E27FC236}">
                <a16:creationId xmlns:a16="http://schemas.microsoft.com/office/drawing/2014/main" id="{F8366091-405D-481E-B7F7-8B8F64FD1C87}"/>
              </a:ext>
            </a:extLst>
          </p:cNvPr>
          <p:cNvGraphicFramePr>
            <a:graphicFrameLocks/>
          </p:cNvGraphicFramePr>
          <p:nvPr>
            <p:extLst>
              <p:ext uri="{D42A27DB-BD31-4B8C-83A1-F6EECF244321}">
                <p14:modId xmlns:p14="http://schemas.microsoft.com/office/powerpoint/2010/main" val="2875188975"/>
              </p:ext>
            </p:extLst>
          </p:nvPr>
        </p:nvGraphicFramePr>
        <p:xfrm>
          <a:off x="8099591" y="2053173"/>
          <a:ext cx="1481012" cy="1161017"/>
        </p:xfrm>
        <a:graphic>
          <a:graphicData uri="http://schemas.openxmlformats.org/drawingml/2006/chart">
            <c:chart xmlns:c="http://schemas.openxmlformats.org/drawingml/2006/chart" xmlns:r="http://schemas.openxmlformats.org/officeDocument/2006/relationships" r:id="rId8"/>
          </a:graphicData>
        </a:graphic>
      </p:graphicFrame>
      <p:sp>
        <p:nvSpPr>
          <p:cNvPr id="16" name="object 21">
            <a:extLst>
              <a:ext uri="{FF2B5EF4-FFF2-40B4-BE49-F238E27FC236}">
                <a16:creationId xmlns:a16="http://schemas.microsoft.com/office/drawing/2014/main" id="{FDFE3336-0975-4022-813D-426DF2A2CDE3}"/>
              </a:ext>
            </a:extLst>
          </p:cNvPr>
          <p:cNvSpPr txBox="1"/>
          <p:nvPr/>
        </p:nvSpPr>
        <p:spPr>
          <a:xfrm>
            <a:off x="2164907" y="3194337"/>
            <a:ext cx="1007272" cy="228268"/>
          </a:xfrm>
          <a:prstGeom prst="rect">
            <a:avLst/>
          </a:prstGeom>
        </p:spPr>
        <p:txBody>
          <a:bodyPr vert="horz" wrap="square" lIns="0" tIns="12700" rIns="0" bIns="0" rtlCol="0">
            <a:spAutoFit/>
          </a:bodyPr>
          <a:lstStyle/>
          <a:p>
            <a:pPr marL="12700" algn="ctr">
              <a:lnSpc>
                <a:spcPct val="100000"/>
              </a:lnSpc>
              <a:spcBef>
                <a:spcPts val="100"/>
              </a:spcBef>
            </a:pPr>
            <a:r>
              <a:rPr lang="en-US" sz="1400" dirty="0">
                <a:solidFill>
                  <a:schemeClr val="bg2">
                    <a:lumMod val="20000"/>
                    <a:lumOff val="80000"/>
                  </a:schemeClr>
                </a:solidFill>
                <a:cs typeface="Arial"/>
              </a:rPr>
              <a:t>Furniture</a:t>
            </a:r>
          </a:p>
        </p:txBody>
      </p:sp>
      <p:sp>
        <p:nvSpPr>
          <p:cNvPr id="17" name="object 22">
            <a:extLst>
              <a:ext uri="{FF2B5EF4-FFF2-40B4-BE49-F238E27FC236}">
                <a16:creationId xmlns:a16="http://schemas.microsoft.com/office/drawing/2014/main" id="{D0254F3B-D1FC-4502-9765-D274E419877A}"/>
              </a:ext>
            </a:extLst>
          </p:cNvPr>
          <p:cNvSpPr txBox="1"/>
          <p:nvPr/>
        </p:nvSpPr>
        <p:spPr>
          <a:xfrm>
            <a:off x="3599086" y="3194337"/>
            <a:ext cx="1001544" cy="228268"/>
          </a:xfrm>
          <a:prstGeom prst="rect">
            <a:avLst/>
          </a:prstGeom>
        </p:spPr>
        <p:txBody>
          <a:bodyPr vert="horz" wrap="square" lIns="0" tIns="12700" rIns="0" bIns="0" rtlCol="0">
            <a:spAutoFit/>
          </a:bodyPr>
          <a:lstStyle/>
          <a:p>
            <a:pPr marL="12700" algn="ctr">
              <a:lnSpc>
                <a:spcPct val="100000"/>
              </a:lnSpc>
              <a:spcBef>
                <a:spcPts val="100"/>
              </a:spcBef>
            </a:pPr>
            <a:r>
              <a:rPr lang="en-US" sz="1400" dirty="0">
                <a:solidFill>
                  <a:schemeClr val="bg1"/>
                </a:solidFill>
              </a:rPr>
              <a:t>Kitchenery</a:t>
            </a:r>
            <a:endParaRPr lang="en-US" sz="1400" dirty="0">
              <a:solidFill>
                <a:schemeClr val="bg1"/>
              </a:solidFill>
              <a:cs typeface="Arial"/>
            </a:endParaRPr>
          </a:p>
        </p:txBody>
      </p:sp>
      <p:sp>
        <p:nvSpPr>
          <p:cNvPr id="18" name="object 23">
            <a:extLst>
              <a:ext uri="{FF2B5EF4-FFF2-40B4-BE49-F238E27FC236}">
                <a16:creationId xmlns:a16="http://schemas.microsoft.com/office/drawing/2014/main" id="{04B2FD88-02F5-4328-AB03-EB8EC1A481F7}"/>
              </a:ext>
            </a:extLst>
          </p:cNvPr>
          <p:cNvSpPr txBox="1"/>
          <p:nvPr/>
        </p:nvSpPr>
        <p:spPr>
          <a:xfrm>
            <a:off x="5467689" y="3194337"/>
            <a:ext cx="901243" cy="228268"/>
          </a:xfrm>
          <a:prstGeom prst="rect">
            <a:avLst/>
          </a:prstGeom>
        </p:spPr>
        <p:txBody>
          <a:bodyPr vert="horz" wrap="square" lIns="0" tIns="12700" rIns="0" bIns="0" rtlCol="0">
            <a:spAutoFit/>
          </a:bodyPr>
          <a:lstStyle/>
          <a:p>
            <a:pPr marL="12700" algn="ctr">
              <a:lnSpc>
                <a:spcPct val="100000"/>
              </a:lnSpc>
              <a:spcBef>
                <a:spcPts val="100"/>
              </a:spcBef>
            </a:pPr>
            <a:r>
              <a:rPr lang="en-US" sz="1400" spc="-5" dirty="0">
                <a:solidFill>
                  <a:schemeClr val="bg2">
                    <a:lumMod val="20000"/>
                    <a:lumOff val="80000"/>
                  </a:schemeClr>
                </a:solidFill>
                <a:cs typeface="Arial"/>
              </a:rPr>
              <a:t>Electronics</a:t>
            </a:r>
            <a:endParaRPr lang="en-US" sz="1400" dirty="0">
              <a:solidFill>
                <a:schemeClr val="bg2">
                  <a:lumMod val="20000"/>
                  <a:lumOff val="80000"/>
                </a:schemeClr>
              </a:solidFill>
              <a:cs typeface="Arial"/>
            </a:endParaRPr>
          </a:p>
        </p:txBody>
      </p:sp>
      <p:sp>
        <p:nvSpPr>
          <p:cNvPr id="19" name="object 24">
            <a:extLst>
              <a:ext uri="{FF2B5EF4-FFF2-40B4-BE49-F238E27FC236}">
                <a16:creationId xmlns:a16="http://schemas.microsoft.com/office/drawing/2014/main" id="{7A33CD89-F67A-4378-8AFD-C60011F6DBB4}"/>
              </a:ext>
            </a:extLst>
          </p:cNvPr>
          <p:cNvSpPr txBox="1"/>
          <p:nvPr/>
        </p:nvSpPr>
        <p:spPr>
          <a:xfrm>
            <a:off x="6974270" y="3194337"/>
            <a:ext cx="901241" cy="228268"/>
          </a:xfrm>
          <a:prstGeom prst="rect">
            <a:avLst/>
          </a:prstGeom>
        </p:spPr>
        <p:txBody>
          <a:bodyPr vert="horz" wrap="square" lIns="0" tIns="12700" rIns="0" bIns="0" rtlCol="0">
            <a:spAutoFit/>
          </a:bodyPr>
          <a:lstStyle/>
          <a:p>
            <a:pPr marL="12700" algn="ctr">
              <a:lnSpc>
                <a:spcPct val="100000"/>
              </a:lnSpc>
              <a:spcBef>
                <a:spcPts val="100"/>
              </a:spcBef>
            </a:pPr>
            <a:r>
              <a:rPr lang="en-US" sz="1400" spc="-5" dirty="0">
                <a:solidFill>
                  <a:schemeClr val="bg2">
                    <a:lumMod val="20000"/>
                    <a:lumOff val="80000"/>
                  </a:schemeClr>
                </a:solidFill>
                <a:cs typeface="Arial"/>
              </a:rPr>
              <a:t>Drinkware</a:t>
            </a:r>
            <a:endParaRPr lang="en-US" sz="1400" dirty="0">
              <a:solidFill>
                <a:schemeClr val="bg2">
                  <a:lumMod val="20000"/>
                  <a:lumOff val="80000"/>
                </a:schemeClr>
              </a:solidFill>
              <a:cs typeface="Arial"/>
            </a:endParaRPr>
          </a:p>
        </p:txBody>
      </p:sp>
      <p:sp>
        <p:nvSpPr>
          <p:cNvPr id="20" name="object 20">
            <a:extLst>
              <a:ext uri="{FF2B5EF4-FFF2-40B4-BE49-F238E27FC236}">
                <a16:creationId xmlns:a16="http://schemas.microsoft.com/office/drawing/2014/main" id="{2306528A-EF2E-492E-846A-8645AF605E9C}"/>
              </a:ext>
            </a:extLst>
          </p:cNvPr>
          <p:cNvSpPr txBox="1"/>
          <p:nvPr/>
        </p:nvSpPr>
        <p:spPr>
          <a:xfrm>
            <a:off x="852235" y="2506665"/>
            <a:ext cx="908033" cy="289823"/>
          </a:xfrm>
          <a:prstGeom prst="rect">
            <a:avLst/>
          </a:prstGeom>
        </p:spPr>
        <p:txBody>
          <a:bodyPr vert="horz" wrap="square" lIns="0" tIns="12700" rIns="0" bIns="0" rtlCol="0">
            <a:spAutoFit/>
          </a:bodyPr>
          <a:lstStyle/>
          <a:p>
            <a:pPr marL="12700" algn="ctr">
              <a:lnSpc>
                <a:spcPct val="100000"/>
              </a:lnSpc>
              <a:spcBef>
                <a:spcPts val="100"/>
              </a:spcBef>
            </a:pPr>
            <a:r>
              <a:rPr lang="en-US" dirty="0">
                <a:solidFill>
                  <a:schemeClr val="accent1"/>
                </a:solidFill>
                <a:latin typeface="+mj-lt"/>
                <a:cs typeface="Arial"/>
              </a:rPr>
              <a:t>28.4%</a:t>
            </a:r>
          </a:p>
        </p:txBody>
      </p:sp>
      <p:sp>
        <p:nvSpPr>
          <p:cNvPr id="21" name="object 21">
            <a:extLst>
              <a:ext uri="{FF2B5EF4-FFF2-40B4-BE49-F238E27FC236}">
                <a16:creationId xmlns:a16="http://schemas.microsoft.com/office/drawing/2014/main" id="{2E9BBF33-FFEE-40F5-A249-CEA0DCAE3BE2}"/>
              </a:ext>
            </a:extLst>
          </p:cNvPr>
          <p:cNvSpPr txBox="1"/>
          <p:nvPr/>
        </p:nvSpPr>
        <p:spPr>
          <a:xfrm>
            <a:off x="2157505" y="2506665"/>
            <a:ext cx="1007276" cy="289823"/>
          </a:xfrm>
          <a:prstGeom prst="rect">
            <a:avLst/>
          </a:prstGeom>
        </p:spPr>
        <p:txBody>
          <a:bodyPr vert="horz" wrap="square" lIns="0" tIns="12700" rIns="0" bIns="0" rtlCol="0">
            <a:spAutoFit/>
          </a:bodyPr>
          <a:lstStyle/>
          <a:p>
            <a:pPr marL="12700" algn="ctr">
              <a:lnSpc>
                <a:spcPct val="100000"/>
              </a:lnSpc>
              <a:spcBef>
                <a:spcPts val="100"/>
              </a:spcBef>
            </a:pPr>
            <a:r>
              <a:rPr lang="en-US" spc="-5" dirty="0">
                <a:solidFill>
                  <a:schemeClr val="accent1"/>
                </a:solidFill>
                <a:latin typeface="+mj-lt"/>
                <a:cs typeface="Arial"/>
              </a:rPr>
              <a:t>16%</a:t>
            </a:r>
            <a:endParaRPr lang="en-US" dirty="0">
              <a:solidFill>
                <a:schemeClr val="accent1"/>
              </a:solidFill>
              <a:latin typeface="+mj-lt"/>
              <a:cs typeface="Arial"/>
            </a:endParaRPr>
          </a:p>
        </p:txBody>
      </p:sp>
      <p:sp>
        <p:nvSpPr>
          <p:cNvPr id="22" name="object 22">
            <a:extLst>
              <a:ext uri="{FF2B5EF4-FFF2-40B4-BE49-F238E27FC236}">
                <a16:creationId xmlns:a16="http://schemas.microsoft.com/office/drawing/2014/main" id="{891776FB-6173-49D8-9F32-944FBC4EABB1}"/>
              </a:ext>
            </a:extLst>
          </p:cNvPr>
          <p:cNvSpPr txBox="1"/>
          <p:nvPr/>
        </p:nvSpPr>
        <p:spPr>
          <a:xfrm>
            <a:off x="3777170" y="2506665"/>
            <a:ext cx="703609" cy="289823"/>
          </a:xfrm>
          <a:prstGeom prst="rect">
            <a:avLst/>
          </a:prstGeom>
        </p:spPr>
        <p:txBody>
          <a:bodyPr vert="horz" wrap="square" lIns="0" tIns="12700" rIns="0" bIns="0" rtlCol="0">
            <a:spAutoFit/>
          </a:bodyPr>
          <a:lstStyle/>
          <a:p>
            <a:pPr marL="12700" algn="ctr">
              <a:lnSpc>
                <a:spcPct val="100000"/>
              </a:lnSpc>
              <a:spcBef>
                <a:spcPts val="100"/>
              </a:spcBef>
            </a:pPr>
            <a:r>
              <a:rPr lang="en-US" dirty="0">
                <a:solidFill>
                  <a:schemeClr val="accent1"/>
                </a:solidFill>
                <a:latin typeface="+mj-lt"/>
                <a:cs typeface="Arial"/>
              </a:rPr>
              <a:t>11.56%</a:t>
            </a:r>
          </a:p>
        </p:txBody>
      </p:sp>
      <p:sp>
        <p:nvSpPr>
          <p:cNvPr id="23" name="object 23">
            <a:extLst>
              <a:ext uri="{FF2B5EF4-FFF2-40B4-BE49-F238E27FC236}">
                <a16:creationId xmlns:a16="http://schemas.microsoft.com/office/drawing/2014/main" id="{3689D36F-0E74-439C-8BF7-BE388B2B4545}"/>
              </a:ext>
            </a:extLst>
          </p:cNvPr>
          <p:cNvSpPr txBox="1"/>
          <p:nvPr/>
        </p:nvSpPr>
        <p:spPr>
          <a:xfrm>
            <a:off x="5485825" y="2506665"/>
            <a:ext cx="901247" cy="289823"/>
          </a:xfrm>
          <a:prstGeom prst="rect">
            <a:avLst/>
          </a:prstGeom>
        </p:spPr>
        <p:txBody>
          <a:bodyPr vert="horz" wrap="square" lIns="0" tIns="12700" rIns="0" bIns="0" rtlCol="0">
            <a:spAutoFit/>
          </a:bodyPr>
          <a:lstStyle/>
          <a:p>
            <a:pPr marL="12700" algn="ctr">
              <a:lnSpc>
                <a:spcPct val="100000"/>
              </a:lnSpc>
              <a:spcBef>
                <a:spcPts val="100"/>
              </a:spcBef>
            </a:pPr>
            <a:r>
              <a:rPr lang="en-US" spc="-5" dirty="0">
                <a:solidFill>
                  <a:schemeClr val="accent1"/>
                </a:solidFill>
                <a:latin typeface="+mj-lt"/>
                <a:cs typeface="Arial"/>
              </a:rPr>
              <a:t>9.33%</a:t>
            </a:r>
            <a:endParaRPr lang="en-US" dirty="0">
              <a:solidFill>
                <a:schemeClr val="accent1"/>
              </a:solidFill>
              <a:latin typeface="+mj-lt"/>
              <a:cs typeface="Arial"/>
            </a:endParaRPr>
          </a:p>
        </p:txBody>
      </p:sp>
      <p:sp>
        <p:nvSpPr>
          <p:cNvPr id="24" name="object 24">
            <a:extLst>
              <a:ext uri="{FF2B5EF4-FFF2-40B4-BE49-F238E27FC236}">
                <a16:creationId xmlns:a16="http://schemas.microsoft.com/office/drawing/2014/main" id="{9396CD8C-7E7D-4CBC-AFB3-A4424860B64E}"/>
              </a:ext>
            </a:extLst>
          </p:cNvPr>
          <p:cNvSpPr txBox="1"/>
          <p:nvPr/>
        </p:nvSpPr>
        <p:spPr>
          <a:xfrm>
            <a:off x="8476823" y="2506665"/>
            <a:ext cx="729903" cy="289823"/>
          </a:xfrm>
          <a:prstGeom prst="rect">
            <a:avLst/>
          </a:prstGeom>
        </p:spPr>
        <p:txBody>
          <a:bodyPr vert="horz" wrap="square" lIns="0" tIns="12700" rIns="0" bIns="0" rtlCol="0">
            <a:spAutoFit/>
          </a:bodyPr>
          <a:lstStyle/>
          <a:p>
            <a:pPr marL="12700" algn="ctr">
              <a:lnSpc>
                <a:spcPct val="100000"/>
              </a:lnSpc>
              <a:spcBef>
                <a:spcPts val="100"/>
              </a:spcBef>
            </a:pPr>
            <a:r>
              <a:rPr lang="en-US" spc="-5" dirty="0">
                <a:solidFill>
                  <a:schemeClr val="accent1"/>
                </a:solidFill>
                <a:latin typeface="+mj-lt"/>
                <a:cs typeface="Arial"/>
              </a:rPr>
              <a:t>6.67%</a:t>
            </a:r>
            <a:endParaRPr lang="en-US" dirty="0">
              <a:solidFill>
                <a:schemeClr val="accent1"/>
              </a:solidFill>
              <a:latin typeface="+mj-lt"/>
              <a:cs typeface="Arial"/>
            </a:endParaRPr>
          </a:p>
        </p:txBody>
      </p:sp>
      <p:sp>
        <p:nvSpPr>
          <p:cNvPr id="28" name="object 20">
            <a:extLst>
              <a:ext uri="{FF2B5EF4-FFF2-40B4-BE49-F238E27FC236}">
                <a16:creationId xmlns:a16="http://schemas.microsoft.com/office/drawing/2014/main" id="{B36D2764-7743-4684-BE95-4AE88B7DB06A}"/>
              </a:ext>
            </a:extLst>
          </p:cNvPr>
          <p:cNvSpPr txBox="1"/>
          <p:nvPr/>
        </p:nvSpPr>
        <p:spPr>
          <a:xfrm>
            <a:off x="852235" y="3194337"/>
            <a:ext cx="908030" cy="228268"/>
          </a:xfrm>
          <a:prstGeom prst="rect">
            <a:avLst/>
          </a:prstGeom>
        </p:spPr>
        <p:txBody>
          <a:bodyPr vert="horz" wrap="square" lIns="0" tIns="12700" rIns="0" bIns="0" rtlCol="0">
            <a:spAutoFit/>
          </a:bodyPr>
          <a:lstStyle/>
          <a:p>
            <a:pPr marL="12700" algn="ctr">
              <a:lnSpc>
                <a:spcPct val="100000"/>
              </a:lnSpc>
              <a:spcBef>
                <a:spcPts val="100"/>
              </a:spcBef>
            </a:pPr>
            <a:r>
              <a:rPr lang="en-US" sz="1400" dirty="0">
                <a:solidFill>
                  <a:schemeClr val="bg2">
                    <a:lumMod val="20000"/>
                    <a:lumOff val="80000"/>
                  </a:schemeClr>
                </a:solidFill>
                <a:cs typeface="Arial"/>
              </a:rPr>
              <a:t>Decorative </a:t>
            </a:r>
          </a:p>
        </p:txBody>
      </p:sp>
      <p:sp>
        <p:nvSpPr>
          <p:cNvPr id="29" name="object 27" descr="Beige rectangle">
            <a:extLst>
              <a:ext uri="{FF2B5EF4-FFF2-40B4-BE49-F238E27FC236}">
                <a16:creationId xmlns:a16="http://schemas.microsoft.com/office/drawing/2014/main" id="{CE178D24-EC15-4677-8CE4-B6FAE887C7CE}"/>
              </a:ext>
            </a:extLst>
          </p:cNvPr>
          <p:cNvSpPr/>
          <p:nvPr/>
        </p:nvSpPr>
        <p:spPr>
          <a:xfrm>
            <a:off x="976913" y="1329710"/>
            <a:ext cx="2808000" cy="0"/>
          </a:xfrm>
          <a:custGeom>
            <a:avLst/>
            <a:gdLst/>
            <a:ahLst/>
            <a:cxnLst/>
            <a:rect l="l" t="t" r="r" b="b"/>
            <a:pathLst>
              <a:path w="2501265">
                <a:moveTo>
                  <a:pt x="0" y="0"/>
                </a:moveTo>
                <a:lnTo>
                  <a:pt x="2500883" y="0"/>
                </a:lnTo>
              </a:path>
            </a:pathLst>
          </a:custGeom>
          <a:ln w="54863">
            <a:solidFill>
              <a:schemeClr val="accent1"/>
            </a:solidFill>
          </a:ln>
        </p:spPr>
        <p:txBody>
          <a:bodyPr wrap="square" lIns="0" tIns="0" rIns="0" bIns="0" rtlCol="0"/>
          <a:lstStyle/>
          <a:p>
            <a:endParaRPr lang="en-US" dirty="0"/>
          </a:p>
        </p:txBody>
      </p:sp>
      <p:graphicFrame>
        <p:nvGraphicFramePr>
          <p:cNvPr id="33" name="Content Placeholder 11" descr="Chart">
            <a:extLst>
              <a:ext uri="{FF2B5EF4-FFF2-40B4-BE49-F238E27FC236}">
                <a16:creationId xmlns:a16="http://schemas.microsoft.com/office/drawing/2014/main" id="{EE3F9CC5-DBA6-45F8-BEB5-9AABA54A807D}"/>
              </a:ext>
            </a:extLst>
          </p:cNvPr>
          <p:cNvGraphicFramePr>
            <a:graphicFrameLocks/>
          </p:cNvGraphicFramePr>
          <p:nvPr>
            <p:extLst>
              <p:ext uri="{D42A27DB-BD31-4B8C-83A1-F6EECF244321}">
                <p14:modId xmlns:p14="http://schemas.microsoft.com/office/powerpoint/2010/main" val="1052908731"/>
              </p:ext>
            </p:extLst>
          </p:nvPr>
        </p:nvGraphicFramePr>
        <p:xfrm>
          <a:off x="9550508" y="2053173"/>
          <a:ext cx="1481012" cy="1161017"/>
        </p:xfrm>
        <a:graphic>
          <a:graphicData uri="http://schemas.openxmlformats.org/drawingml/2006/chart">
            <c:chart xmlns:c="http://schemas.openxmlformats.org/drawingml/2006/chart" xmlns:r="http://schemas.openxmlformats.org/officeDocument/2006/relationships" r:id="rId9"/>
          </a:graphicData>
        </a:graphic>
      </p:graphicFrame>
      <p:sp>
        <p:nvSpPr>
          <p:cNvPr id="34" name="object 22">
            <a:extLst>
              <a:ext uri="{FF2B5EF4-FFF2-40B4-BE49-F238E27FC236}">
                <a16:creationId xmlns:a16="http://schemas.microsoft.com/office/drawing/2014/main" id="{920F091D-CD6E-4913-9674-EB69EC3CF30D}"/>
              </a:ext>
            </a:extLst>
          </p:cNvPr>
          <p:cNvSpPr txBox="1"/>
          <p:nvPr/>
        </p:nvSpPr>
        <p:spPr>
          <a:xfrm>
            <a:off x="8405656" y="3194337"/>
            <a:ext cx="901242" cy="228268"/>
          </a:xfrm>
          <a:prstGeom prst="rect">
            <a:avLst/>
          </a:prstGeom>
        </p:spPr>
        <p:txBody>
          <a:bodyPr vert="horz" wrap="square" lIns="0" tIns="12700" rIns="0" bIns="0" rtlCol="0">
            <a:spAutoFit/>
          </a:bodyPr>
          <a:lstStyle/>
          <a:p>
            <a:pPr marL="12700" algn="ctr">
              <a:lnSpc>
                <a:spcPct val="100000"/>
              </a:lnSpc>
              <a:spcBef>
                <a:spcPts val="100"/>
              </a:spcBef>
            </a:pPr>
            <a:r>
              <a:rPr lang="en-US" sz="1400" dirty="0">
                <a:solidFill>
                  <a:schemeClr val="bg2">
                    <a:lumMod val="20000"/>
                    <a:lumOff val="80000"/>
                  </a:schemeClr>
                </a:solidFill>
                <a:cs typeface="Arial"/>
              </a:rPr>
              <a:t>Lighting</a:t>
            </a:r>
          </a:p>
        </p:txBody>
      </p:sp>
      <p:sp>
        <p:nvSpPr>
          <p:cNvPr id="35" name="object 23">
            <a:extLst>
              <a:ext uri="{FF2B5EF4-FFF2-40B4-BE49-F238E27FC236}">
                <a16:creationId xmlns:a16="http://schemas.microsoft.com/office/drawing/2014/main" id="{43B84908-3B8B-4F2C-919C-2334EC97AF43}"/>
              </a:ext>
            </a:extLst>
          </p:cNvPr>
          <p:cNvSpPr txBox="1"/>
          <p:nvPr/>
        </p:nvSpPr>
        <p:spPr>
          <a:xfrm>
            <a:off x="9846008" y="3194337"/>
            <a:ext cx="901243" cy="228268"/>
          </a:xfrm>
          <a:prstGeom prst="rect">
            <a:avLst/>
          </a:prstGeom>
        </p:spPr>
        <p:txBody>
          <a:bodyPr vert="horz" wrap="square" lIns="0" tIns="12700" rIns="0" bIns="0" rtlCol="0">
            <a:spAutoFit/>
          </a:bodyPr>
          <a:lstStyle/>
          <a:p>
            <a:pPr marL="12700" algn="ctr">
              <a:lnSpc>
                <a:spcPct val="100000"/>
              </a:lnSpc>
              <a:spcBef>
                <a:spcPts val="100"/>
              </a:spcBef>
            </a:pPr>
            <a:r>
              <a:rPr lang="en-US" sz="1400" spc="-5" dirty="0">
                <a:solidFill>
                  <a:schemeClr val="bg2">
                    <a:lumMod val="20000"/>
                    <a:lumOff val="80000"/>
                  </a:schemeClr>
                </a:solidFill>
                <a:cs typeface="Arial"/>
              </a:rPr>
              <a:t>Collections</a:t>
            </a:r>
            <a:endParaRPr lang="en-US" sz="1400" dirty="0">
              <a:solidFill>
                <a:schemeClr val="bg2">
                  <a:lumMod val="20000"/>
                  <a:lumOff val="80000"/>
                </a:schemeClr>
              </a:solidFill>
              <a:cs typeface="Arial"/>
            </a:endParaRPr>
          </a:p>
        </p:txBody>
      </p:sp>
      <p:sp>
        <p:nvSpPr>
          <p:cNvPr id="36" name="object 22">
            <a:extLst>
              <a:ext uri="{FF2B5EF4-FFF2-40B4-BE49-F238E27FC236}">
                <a16:creationId xmlns:a16="http://schemas.microsoft.com/office/drawing/2014/main" id="{3E0CD13B-E1C5-4B1E-8D6F-830B20EB1901}"/>
              </a:ext>
            </a:extLst>
          </p:cNvPr>
          <p:cNvSpPr txBox="1"/>
          <p:nvPr/>
        </p:nvSpPr>
        <p:spPr>
          <a:xfrm>
            <a:off x="7039802" y="2506665"/>
            <a:ext cx="703609" cy="289823"/>
          </a:xfrm>
          <a:prstGeom prst="rect">
            <a:avLst/>
          </a:prstGeom>
        </p:spPr>
        <p:txBody>
          <a:bodyPr vert="horz" wrap="square" lIns="0" tIns="12700" rIns="0" bIns="0" rtlCol="0">
            <a:spAutoFit/>
          </a:bodyPr>
          <a:lstStyle/>
          <a:p>
            <a:pPr marL="12700" algn="ctr">
              <a:lnSpc>
                <a:spcPct val="100000"/>
              </a:lnSpc>
              <a:spcBef>
                <a:spcPts val="100"/>
              </a:spcBef>
            </a:pPr>
            <a:r>
              <a:rPr lang="en-US" dirty="0">
                <a:solidFill>
                  <a:schemeClr val="accent1"/>
                </a:solidFill>
                <a:latin typeface="+mj-lt"/>
                <a:cs typeface="Arial"/>
              </a:rPr>
              <a:t>8%</a:t>
            </a:r>
          </a:p>
        </p:txBody>
      </p:sp>
      <p:sp>
        <p:nvSpPr>
          <p:cNvPr id="37" name="object 23">
            <a:extLst>
              <a:ext uri="{FF2B5EF4-FFF2-40B4-BE49-F238E27FC236}">
                <a16:creationId xmlns:a16="http://schemas.microsoft.com/office/drawing/2014/main" id="{67128195-4722-4370-9902-03BB1E8A9491}"/>
              </a:ext>
            </a:extLst>
          </p:cNvPr>
          <p:cNvSpPr txBox="1"/>
          <p:nvPr/>
        </p:nvSpPr>
        <p:spPr>
          <a:xfrm>
            <a:off x="9846008" y="2506665"/>
            <a:ext cx="901247" cy="289823"/>
          </a:xfrm>
          <a:prstGeom prst="rect">
            <a:avLst/>
          </a:prstGeom>
        </p:spPr>
        <p:txBody>
          <a:bodyPr vert="horz" wrap="square" lIns="0" tIns="12700" rIns="0" bIns="0" rtlCol="0">
            <a:spAutoFit/>
          </a:bodyPr>
          <a:lstStyle/>
          <a:p>
            <a:pPr marL="12700" algn="ctr">
              <a:lnSpc>
                <a:spcPct val="100000"/>
              </a:lnSpc>
              <a:spcBef>
                <a:spcPts val="100"/>
              </a:spcBef>
            </a:pPr>
            <a:r>
              <a:rPr lang="en-US" spc="-5" dirty="0">
                <a:solidFill>
                  <a:schemeClr val="accent1"/>
                </a:solidFill>
                <a:latin typeface="+mj-lt"/>
                <a:cs typeface="Arial"/>
              </a:rPr>
              <a:t>6.67%</a:t>
            </a:r>
            <a:endParaRPr lang="en-US" dirty="0">
              <a:solidFill>
                <a:schemeClr val="accent1"/>
              </a:solidFill>
              <a:latin typeface="+mj-lt"/>
              <a:cs typeface="Arial"/>
            </a:endParaRPr>
          </a:p>
        </p:txBody>
      </p:sp>
      <p:cxnSp>
        <p:nvCxnSpPr>
          <p:cNvPr id="6" name="Straight Connector 5" descr="Line">
            <a:extLst>
              <a:ext uri="{FF2B5EF4-FFF2-40B4-BE49-F238E27FC236}">
                <a16:creationId xmlns:a16="http://schemas.microsoft.com/office/drawing/2014/main" id="{5C0E71B8-1D2B-4965-B2E2-9D9AD54201BD}"/>
              </a:ext>
            </a:extLst>
          </p:cNvPr>
          <p:cNvCxnSpPr>
            <a:cxnSpLocks/>
          </p:cNvCxnSpPr>
          <p:nvPr/>
        </p:nvCxnSpPr>
        <p:spPr>
          <a:xfrm>
            <a:off x="5035890" y="1844675"/>
            <a:ext cx="0" cy="1763713"/>
          </a:xfrm>
          <a:prstGeom prst="line">
            <a:avLst/>
          </a:prstGeom>
          <a:ln w="3175">
            <a:solidFill>
              <a:schemeClr val="bg2">
                <a:lumMod val="20000"/>
                <a:lumOff val="80000"/>
                <a:alpha val="2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5CB1DDE-17DD-0E1B-9799-D1E1DDDFC71C}"/>
              </a:ext>
            </a:extLst>
          </p:cNvPr>
          <p:cNvSpPr txBox="1"/>
          <p:nvPr/>
        </p:nvSpPr>
        <p:spPr>
          <a:xfrm>
            <a:off x="89632" y="4760148"/>
            <a:ext cx="10961655" cy="707886"/>
          </a:xfrm>
          <a:prstGeom prst="rect">
            <a:avLst/>
          </a:prstGeom>
          <a:noFill/>
        </p:spPr>
        <p:txBody>
          <a:bodyPr wrap="none" rtlCol="0">
            <a:spAutoFit/>
          </a:bodyPr>
          <a:lstStyle/>
          <a:p>
            <a:pPr algn="just"/>
            <a:r>
              <a:rPr lang="en-US" sz="2000" b="1" dirty="0"/>
              <a:t>Decoratives generated approximately 28.4% of the total company revenue, making it the </a:t>
            </a:r>
          </a:p>
          <a:p>
            <a:pPr algn="just"/>
            <a:r>
              <a:rPr lang="en-US" sz="2000" b="1" dirty="0"/>
              <a:t>highest-performing product category.</a:t>
            </a:r>
          </a:p>
        </p:txBody>
      </p:sp>
      <p:sp>
        <p:nvSpPr>
          <p:cNvPr id="11" name="Title 2">
            <a:extLst>
              <a:ext uri="{FF2B5EF4-FFF2-40B4-BE49-F238E27FC236}">
                <a16:creationId xmlns:a16="http://schemas.microsoft.com/office/drawing/2014/main" id="{2E844366-E5B4-1EB7-2BBC-29AF5CC17AD1}"/>
              </a:ext>
            </a:extLst>
          </p:cNvPr>
          <p:cNvSpPr txBox="1">
            <a:spLocks/>
          </p:cNvSpPr>
          <p:nvPr/>
        </p:nvSpPr>
        <p:spPr>
          <a:xfrm>
            <a:off x="530035" y="4299743"/>
            <a:ext cx="2800257" cy="45692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accent2"/>
                </a:solidFill>
                <a:latin typeface="+mj-lt"/>
                <a:ea typeface="+mj-ea"/>
                <a:cs typeface="+mj-cs"/>
              </a:defRPr>
            </a:lvl1pPr>
          </a:lstStyle>
          <a:p>
            <a:pPr algn="ctr"/>
            <a:r>
              <a:rPr lang="en-US" sz="2400" dirty="0"/>
              <a:t>Key Insights</a:t>
            </a:r>
          </a:p>
        </p:txBody>
      </p:sp>
      <p:sp>
        <p:nvSpPr>
          <p:cNvPr id="31" name="TextBox 30">
            <a:extLst>
              <a:ext uri="{FF2B5EF4-FFF2-40B4-BE49-F238E27FC236}">
                <a16:creationId xmlns:a16="http://schemas.microsoft.com/office/drawing/2014/main" id="{DBF8D93F-34E0-E33E-71E0-CFF669C33FE8}"/>
              </a:ext>
            </a:extLst>
          </p:cNvPr>
          <p:cNvSpPr txBox="1"/>
          <p:nvPr/>
        </p:nvSpPr>
        <p:spPr>
          <a:xfrm>
            <a:off x="76613" y="5471510"/>
            <a:ext cx="11926919" cy="1015663"/>
          </a:xfrm>
          <a:prstGeom prst="rect">
            <a:avLst/>
          </a:prstGeom>
          <a:noFill/>
        </p:spPr>
        <p:txBody>
          <a:bodyPr wrap="none" rtlCol="0">
            <a:spAutoFit/>
          </a:bodyPr>
          <a:lstStyle/>
          <a:p>
            <a:pPr algn="just"/>
            <a:r>
              <a:rPr lang="en-US" sz="2000" b="1" dirty="0"/>
              <a:t>The Decoratives category represents the company's primary revenue driver. Expanding product </a:t>
            </a:r>
          </a:p>
          <a:p>
            <a:pPr algn="just"/>
            <a:r>
              <a:rPr lang="en-US" sz="2000" b="1" dirty="0"/>
              <a:t>offerings, improving inventory availability, and increasing promotional efforts </a:t>
            </a:r>
          </a:p>
          <a:p>
            <a:pPr algn="just"/>
            <a:r>
              <a:rPr lang="en-US" sz="2000" b="1" dirty="0"/>
              <a:t>within this category could significantly increase future revenue.</a:t>
            </a:r>
          </a:p>
        </p:txBody>
      </p:sp>
    </p:spTree>
    <p:extLst>
      <p:ext uri="{BB962C8B-B14F-4D97-AF65-F5344CB8AC3E}">
        <p14:creationId xmlns:p14="http://schemas.microsoft.com/office/powerpoint/2010/main" val="3514470430"/>
      </p:ext>
    </p:extLst>
  </p:cSld>
  <p:clrMapOvr>
    <a:masterClrMapping/>
  </p:clrMapOvr>
  <mc:AlternateContent xmlns:mc="http://schemas.openxmlformats.org/markup-compatibility/2006">
    <mc:Choice xmlns:p14="http://schemas.microsoft.com/office/powerpoint/2010/main" Requires="p14">
      <p:transition spd="slow" p14:dur="2000">
        <p:blinds dir="vert"/>
      </p:transition>
    </mc:Choice>
    <mc:Fallback>
      <p:transition spd="slow">
        <p:blinds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13" descr="People look at the document">
            <a:extLst>
              <a:ext uri="{FF2B5EF4-FFF2-40B4-BE49-F238E27FC236}">
                <a16:creationId xmlns:a16="http://schemas.microsoft.com/office/drawing/2014/main" id="{3473867A-FBFD-45C7-BD5B-FDE711A8EC8C}"/>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object 3" descr="Blue rectangle">
            <a:extLst>
              <a:ext uri="{FF2B5EF4-FFF2-40B4-BE49-F238E27FC236}">
                <a16:creationId xmlns:a16="http://schemas.microsoft.com/office/drawing/2014/main" id="{33BB357B-B238-4C43-8242-F33D9E1D4905}"/>
              </a:ext>
            </a:extLst>
          </p:cNvPr>
          <p:cNvSpPr/>
          <p:nvPr/>
        </p:nvSpPr>
        <p:spPr>
          <a:xfrm>
            <a:off x="1200" y="0"/>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7" name="Oval 6" descr="Beige oval">
            <a:extLst>
              <a:ext uri="{FF2B5EF4-FFF2-40B4-BE49-F238E27FC236}">
                <a16:creationId xmlns:a16="http://schemas.microsoft.com/office/drawing/2014/main" id="{5E8475D7-5EB4-4E70-AD4D-D32B1FB40E6E}"/>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descr="White circle">
            <a:extLst>
              <a:ext uri="{FF2B5EF4-FFF2-40B4-BE49-F238E27FC236}">
                <a16:creationId xmlns:a16="http://schemas.microsoft.com/office/drawing/2014/main" id="{103ABA59-6ED8-4FA4-A25B-9B8C475CCBCF}"/>
              </a:ext>
            </a:extLst>
          </p:cNvPr>
          <p:cNvSpPr/>
          <p:nvPr/>
        </p:nvSpPr>
        <p:spPr>
          <a:xfrm>
            <a:off x="3665866" y="1611824"/>
            <a:ext cx="4494508" cy="44945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itle 18">
            <a:extLst>
              <a:ext uri="{FF2B5EF4-FFF2-40B4-BE49-F238E27FC236}">
                <a16:creationId xmlns:a16="http://schemas.microsoft.com/office/drawing/2014/main" id="{592443CF-1BB0-4648-AEBA-9AFB75D72A99}"/>
              </a:ext>
            </a:extLst>
          </p:cNvPr>
          <p:cNvSpPr>
            <a:spLocks noGrp="1"/>
          </p:cNvSpPr>
          <p:nvPr>
            <p:ph type="title"/>
          </p:nvPr>
        </p:nvSpPr>
        <p:spPr/>
        <p:txBody>
          <a:bodyPr/>
          <a:lstStyle/>
          <a:p>
            <a:r>
              <a:rPr lang="en-US" dirty="0">
                <a:solidFill>
                  <a:schemeClr val="bg1"/>
                </a:solidFill>
              </a:rPr>
              <a:t>REVENUE BY SALES CHANNEL</a:t>
            </a:r>
            <a:endParaRPr lang="en-US" dirty="0"/>
          </a:p>
        </p:txBody>
      </p:sp>
      <p:sp>
        <p:nvSpPr>
          <p:cNvPr id="3" name="Slide Number Placeholder 2">
            <a:extLst>
              <a:ext uri="{FF2B5EF4-FFF2-40B4-BE49-F238E27FC236}">
                <a16:creationId xmlns:a16="http://schemas.microsoft.com/office/drawing/2014/main" id="{1F16D174-C1FB-4494-B78F-EFF7C645AE67}"/>
              </a:ext>
            </a:extLst>
          </p:cNvPr>
          <p:cNvSpPr>
            <a:spLocks noGrp="1"/>
          </p:cNvSpPr>
          <p:nvPr>
            <p:ph type="sldNum" sz="quarter" idx="12"/>
          </p:nvPr>
        </p:nvSpPr>
        <p:spPr>
          <a:xfrm>
            <a:off x="11484886" y="6174902"/>
            <a:ext cx="357116" cy="365125"/>
          </a:xfrm>
        </p:spPr>
        <p:txBody>
          <a:bodyPr/>
          <a:lstStyle/>
          <a:p>
            <a:fld id="{82EE24B5-652C-4DB5-B7C3-B5BBEC1280B1}" type="slidenum">
              <a:rPr lang="en-US" smtClean="0"/>
              <a:t>7</a:t>
            </a:fld>
            <a:endParaRPr lang="en-US" dirty="0"/>
          </a:p>
        </p:txBody>
      </p:sp>
      <p:sp>
        <p:nvSpPr>
          <p:cNvPr id="9" name="object 5" descr="Beige rectangle">
            <a:extLst>
              <a:ext uri="{FF2B5EF4-FFF2-40B4-BE49-F238E27FC236}">
                <a16:creationId xmlns:a16="http://schemas.microsoft.com/office/drawing/2014/main" id="{3C19A568-7E73-443A-A183-2C3EDA0087DF}"/>
              </a:ext>
            </a:extLst>
          </p:cNvPr>
          <p:cNvSpPr/>
          <p:nvPr/>
        </p:nvSpPr>
        <p:spPr>
          <a:xfrm>
            <a:off x="958669" y="1325792"/>
            <a:ext cx="4356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graphicFrame>
        <p:nvGraphicFramePr>
          <p:cNvPr id="20" name="Content Placeholder 24" descr="Chart">
            <a:extLst>
              <a:ext uri="{FF2B5EF4-FFF2-40B4-BE49-F238E27FC236}">
                <a16:creationId xmlns:a16="http://schemas.microsoft.com/office/drawing/2014/main" id="{ADF6246A-0EC1-4DCB-9145-E3BF493B455E}"/>
              </a:ext>
            </a:extLst>
          </p:cNvPr>
          <p:cNvGraphicFramePr>
            <a:graphicFrameLocks/>
          </p:cNvGraphicFramePr>
          <p:nvPr>
            <p:extLst>
              <p:ext uri="{D42A27DB-BD31-4B8C-83A1-F6EECF244321}">
                <p14:modId xmlns:p14="http://schemas.microsoft.com/office/powerpoint/2010/main" val="2314355775"/>
              </p:ext>
            </p:extLst>
          </p:nvPr>
        </p:nvGraphicFramePr>
        <p:xfrm>
          <a:off x="2337277" y="1699285"/>
          <a:ext cx="7151687" cy="4319587"/>
        </p:xfrm>
        <a:graphic>
          <a:graphicData uri="http://schemas.openxmlformats.org/drawingml/2006/chart">
            <c:chart xmlns:c="http://schemas.openxmlformats.org/drawingml/2006/chart" xmlns:r="http://schemas.openxmlformats.org/officeDocument/2006/relationships" r:id="rId4"/>
          </a:graphicData>
        </a:graphic>
      </p:graphicFrame>
      <p:sp>
        <p:nvSpPr>
          <p:cNvPr id="21" name="object 7">
            <a:extLst>
              <a:ext uri="{FF2B5EF4-FFF2-40B4-BE49-F238E27FC236}">
                <a16:creationId xmlns:a16="http://schemas.microsoft.com/office/drawing/2014/main" id="{7B7E030C-3F6F-4826-AEC5-FCEC515A0796}"/>
              </a:ext>
            </a:extLst>
          </p:cNvPr>
          <p:cNvSpPr txBox="1"/>
          <p:nvPr/>
        </p:nvSpPr>
        <p:spPr>
          <a:xfrm>
            <a:off x="8750984" y="2469616"/>
            <a:ext cx="2553268" cy="682238"/>
          </a:xfrm>
          <a:prstGeom prst="rect">
            <a:avLst/>
          </a:prstGeom>
        </p:spPr>
        <p:txBody>
          <a:bodyPr vert="horz" wrap="square" lIns="0" tIns="43180" rIns="0" bIns="0" rtlCol="0">
            <a:spAutoFit/>
          </a:bodyPr>
          <a:lstStyle/>
          <a:p>
            <a:pPr marL="12700" algn="r">
              <a:spcBef>
                <a:spcPts val="340"/>
              </a:spcBef>
            </a:pPr>
            <a:r>
              <a:rPr lang="en-US" sz="1400" i="1" spc="15" dirty="0">
                <a:solidFill>
                  <a:schemeClr val="bg2"/>
                </a:solidFill>
                <a:cs typeface="Arial"/>
              </a:rPr>
              <a:t>ONLINE</a:t>
            </a:r>
          </a:p>
          <a:p>
            <a:pPr marL="12700" algn="r">
              <a:spcBef>
                <a:spcPts val="340"/>
              </a:spcBef>
            </a:pPr>
            <a:r>
              <a:rPr lang="en-US" sz="2500" b="1" dirty="0">
                <a:solidFill>
                  <a:schemeClr val="bg1"/>
                </a:solidFill>
                <a:latin typeface="+mj-lt"/>
              </a:rPr>
              <a:t>$611K – 27.12%</a:t>
            </a:r>
          </a:p>
        </p:txBody>
      </p:sp>
      <p:sp>
        <p:nvSpPr>
          <p:cNvPr id="22" name="object 8">
            <a:extLst>
              <a:ext uri="{FF2B5EF4-FFF2-40B4-BE49-F238E27FC236}">
                <a16:creationId xmlns:a16="http://schemas.microsoft.com/office/drawing/2014/main" id="{C2065C42-E359-4176-85AC-B337EC4D788C}"/>
              </a:ext>
            </a:extLst>
          </p:cNvPr>
          <p:cNvSpPr txBox="1"/>
          <p:nvPr/>
        </p:nvSpPr>
        <p:spPr>
          <a:xfrm>
            <a:off x="933924" y="4946920"/>
            <a:ext cx="2303011" cy="695062"/>
          </a:xfrm>
          <a:prstGeom prst="rect">
            <a:avLst/>
          </a:prstGeom>
        </p:spPr>
        <p:txBody>
          <a:bodyPr vert="horz" wrap="square" lIns="0" tIns="43180" rIns="0" bIns="0" rtlCol="0">
            <a:spAutoFit/>
          </a:bodyPr>
          <a:lstStyle/>
          <a:p>
            <a:pPr marL="12700">
              <a:spcBef>
                <a:spcPts val="340"/>
              </a:spcBef>
            </a:pPr>
            <a:r>
              <a:rPr lang="en-US" sz="1400" i="1" spc="15" dirty="0">
                <a:solidFill>
                  <a:schemeClr val="bg2"/>
                </a:solidFill>
                <a:cs typeface="Arial"/>
              </a:rPr>
              <a:t>BANK</a:t>
            </a:r>
          </a:p>
          <a:p>
            <a:pPr marL="12700">
              <a:lnSpc>
                <a:spcPct val="100000"/>
              </a:lnSpc>
              <a:spcBef>
                <a:spcPts val="425"/>
              </a:spcBef>
            </a:pPr>
            <a:r>
              <a:rPr lang="en-US" sz="2500" b="1" dirty="0">
                <a:solidFill>
                  <a:schemeClr val="bg1"/>
                </a:solidFill>
                <a:latin typeface="+mj-lt"/>
              </a:rPr>
              <a:t>$544K – 24.17%</a:t>
            </a:r>
          </a:p>
        </p:txBody>
      </p:sp>
      <p:sp>
        <p:nvSpPr>
          <p:cNvPr id="23" name="object 9">
            <a:extLst>
              <a:ext uri="{FF2B5EF4-FFF2-40B4-BE49-F238E27FC236}">
                <a16:creationId xmlns:a16="http://schemas.microsoft.com/office/drawing/2014/main" id="{DDB21112-A270-432B-831F-754FDCDD78AF}"/>
              </a:ext>
            </a:extLst>
          </p:cNvPr>
          <p:cNvSpPr txBox="1"/>
          <p:nvPr/>
        </p:nvSpPr>
        <p:spPr>
          <a:xfrm>
            <a:off x="8794215" y="4946920"/>
            <a:ext cx="2585142" cy="704850"/>
          </a:xfrm>
          <a:prstGeom prst="rect">
            <a:avLst/>
          </a:prstGeom>
        </p:spPr>
        <p:txBody>
          <a:bodyPr vert="horz" wrap="square" lIns="0" tIns="43180" rIns="0" bIns="0" rtlCol="0">
            <a:spAutoFit/>
          </a:bodyPr>
          <a:lstStyle/>
          <a:p>
            <a:pPr marL="12700" algn="r">
              <a:spcBef>
                <a:spcPts val="340"/>
              </a:spcBef>
            </a:pPr>
            <a:r>
              <a:rPr lang="en-US" sz="1400" i="1" spc="15" dirty="0">
                <a:solidFill>
                  <a:schemeClr val="bg2"/>
                </a:solidFill>
                <a:cs typeface="Arial"/>
              </a:rPr>
              <a:t>IN-STORE</a:t>
            </a:r>
          </a:p>
          <a:p>
            <a:pPr marL="12700" algn="r">
              <a:lnSpc>
                <a:spcPct val="100000"/>
              </a:lnSpc>
              <a:spcBef>
                <a:spcPts val="340"/>
              </a:spcBef>
            </a:pPr>
            <a:r>
              <a:rPr lang="en-US" sz="2500" b="1" dirty="0">
                <a:solidFill>
                  <a:schemeClr val="bg1"/>
                </a:solidFill>
                <a:latin typeface="+mj-lt"/>
              </a:rPr>
              <a:t>$558K – 24.77%</a:t>
            </a:r>
          </a:p>
        </p:txBody>
      </p:sp>
      <p:sp>
        <p:nvSpPr>
          <p:cNvPr id="24" name="object 7">
            <a:extLst>
              <a:ext uri="{FF2B5EF4-FFF2-40B4-BE49-F238E27FC236}">
                <a16:creationId xmlns:a16="http://schemas.microsoft.com/office/drawing/2014/main" id="{744CC3A9-45E2-428E-ADA6-C50C9327E9C9}"/>
              </a:ext>
            </a:extLst>
          </p:cNvPr>
          <p:cNvSpPr txBox="1"/>
          <p:nvPr/>
        </p:nvSpPr>
        <p:spPr>
          <a:xfrm>
            <a:off x="933925" y="2469616"/>
            <a:ext cx="2467642" cy="682238"/>
          </a:xfrm>
          <a:prstGeom prst="rect">
            <a:avLst/>
          </a:prstGeom>
        </p:spPr>
        <p:txBody>
          <a:bodyPr vert="horz" wrap="square" lIns="0" tIns="43180" rIns="0" bIns="0" rtlCol="0">
            <a:spAutoFit/>
          </a:bodyPr>
          <a:lstStyle/>
          <a:p>
            <a:pPr marL="12700">
              <a:spcBef>
                <a:spcPts val="340"/>
              </a:spcBef>
            </a:pPr>
            <a:r>
              <a:rPr lang="en-US" sz="1400" i="1" spc="15" dirty="0">
                <a:solidFill>
                  <a:schemeClr val="bg2"/>
                </a:solidFill>
                <a:cs typeface="Arial"/>
              </a:rPr>
              <a:t>WHOLESALE</a:t>
            </a:r>
          </a:p>
          <a:p>
            <a:pPr marL="12700">
              <a:lnSpc>
                <a:spcPct val="100000"/>
              </a:lnSpc>
              <a:spcBef>
                <a:spcPts val="340"/>
              </a:spcBef>
            </a:pPr>
            <a:r>
              <a:rPr lang="en-US" sz="2500" b="1" dirty="0">
                <a:solidFill>
                  <a:schemeClr val="bg1"/>
                </a:solidFill>
                <a:latin typeface="+mj-lt"/>
                <a:cs typeface="Avenir Black"/>
              </a:rPr>
              <a:t>$539 – 23.94%</a:t>
            </a:r>
            <a:endParaRPr lang="en-US" sz="2500" dirty="0">
              <a:solidFill>
                <a:schemeClr val="bg1"/>
              </a:solidFill>
              <a:latin typeface="+mj-lt"/>
              <a:cs typeface="Avenir Black"/>
            </a:endParaRPr>
          </a:p>
        </p:txBody>
      </p:sp>
      <p:cxnSp>
        <p:nvCxnSpPr>
          <p:cNvPr id="25" name="Straight Connector 24" descr="White line">
            <a:extLst>
              <a:ext uri="{FF2B5EF4-FFF2-40B4-BE49-F238E27FC236}">
                <a16:creationId xmlns:a16="http://schemas.microsoft.com/office/drawing/2014/main" id="{607CF451-781C-4491-A864-E8EEECD3491A}"/>
              </a:ext>
            </a:extLst>
          </p:cNvPr>
          <p:cNvCxnSpPr/>
          <p:nvPr/>
        </p:nvCxnSpPr>
        <p:spPr>
          <a:xfrm>
            <a:off x="3218865" y="2944678"/>
            <a:ext cx="82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descr="White line">
            <a:extLst>
              <a:ext uri="{FF2B5EF4-FFF2-40B4-BE49-F238E27FC236}">
                <a16:creationId xmlns:a16="http://schemas.microsoft.com/office/drawing/2014/main" id="{A2249A06-D37D-4511-AD35-60520458B7E1}"/>
              </a:ext>
            </a:extLst>
          </p:cNvPr>
          <p:cNvCxnSpPr>
            <a:cxnSpLocks/>
          </p:cNvCxnSpPr>
          <p:nvPr/>
        </p:nvCxnSpPr>
        <p:spPr>
          <a:xfrm>
            <a:off x="3218865" y="5406326"/>
            <a:ext cx="1224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descr="White line">
            <a:extLst>
              <a:ext uri="{FF2B5EF4-FFF2-40B4-BE49-F238E27FC236}">
                <a16:creationId xmlns:a16="http://schemas.microsoft.com/office/drawing/2014/main" id="{C1314840-B284-4988-81B2-CB4ABB86560A}"/>
              </a:ext>
            </a:extLst>
          </p:cNvPr>
          <p:cNvCxnSpPr>
            <a:cxnSpLocks/>
          </p:cNvCxnSpPr>
          <p:nvPr/>
        </p:nvCxnSpPr>
        <p:spPr>
          <a:xfrm>
            <a:off x="7778984" y="2944678"/>
            <a:ext cx="9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descr="White line">
            <a:extLst>
              <a:ext uri="{FF2B5EF4-FFF2-40B4-BE49-F238E27FC236}">
                <a16:creationId xmlns:a16="http://schemas.microsoft.com/office/drawing/2014/main" id="{34523086-F02B-40E2-8276-9455FC9EDA4F}"/>
              </a:ext>
            </a:extLst>
          </p:cNvPr>
          <p:cNvCxnSpPr>
            <a:cxnSpLocks/>
          </p:cNvCxnSpPr>
          <p:nvPr/>
        </p:nvCxnSpPr>
        <p:spPr>
          <a:xfrm>
            <a:off x="7426788" y="5406326"/>
            <a:ext cx="132419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2811017"/>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Placeholder 32" descr="Handshake">
            <a:extLst>
              <a:ext uri="{FF2B5EF4-FFF2-40B4-BE49-F238E27FC236}">
                <a16:creationId xmlns:a16="http://schemas.microsoft.com/office/drawing/2014/main" id="{2F5DB649-A4D3-4E21-BA31-0C84C9B36031}"/>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10"/>
          <a:stretch/>
        </p:blipFill>
        <p:spPr>
          <a:xfrm>
            <a:off x="1200" y="3115388"/>
            <a:ext cx="12189600" cy="3743586"/>
          </a:xfrm>
        </p:spPr>
      </p:pic>
      <p:sp>
        <p:nvSpPr>
          <p:cNvPr id="12" name="object 3" descr="Blue rectangle">
            <a:extLst>
              <a:ext uri="{FF2B5EF4-FFF2-40B4-BE49-F238E27FC236}">
                <a16:creationId xmlns:a16="http://schemas.microsoft.com/office/drawing/2014/main" id="{CDEEA71D-C3B3-45BB-A776-D17D92A58127}"/>
              </a:ext>
            </a:extLst>
          </p:cNvPr>
          <p:cNvSpPr/>
          <p:nvPr/>
        </p:nvSpPr>
        <p:spPr>
          <a:xfrm>
            <a:off x="1200" y="3112545"/>
            <a:ext cx="12189600" cy="3742611"/>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80000"/>
            </a:schemeClr>
          </a:solidFill>
        </p:spPr>
        <p:txBody>
          <a:bodyPr wrap="square" lIns="0" tIns="0" rIns="0" bIns="0" rtlCol="0"/>
          <a:lstStyle/>
          <a:p>
            <a:endParaRPr lang="en-US" dirty="0"/>
          </a:p>
        </p:txBody>
      </p:sp>
      <p:sp>
        <p:nvSpPr>
          <p:cNvPr id="13" name="Oval 12" descr="Beige oval">
            <a:extLst>
              <a:ext uri="{FF2B5EF4-FFF2-40B4-BE49-F238E27FC236}">
                <a16:creationId xmlns:a16="http://schemas.microsoft.com/office/drawing/2014/main" id="{F336552F-CA64-452F-9BD8-01334388BFF5}"/>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F9ADB42F-AE48-4323-897F-DB5A083BD103}"/>
              </a:ext>
            </a:extLst>
          </p:cNvPr>
          <p:cNvSpPr>
            <a:spLocks noGrp="1"/>
          </p:cNvSpPr>
          <p:nvPr>
            <p:ph type="title"/>
          </p:nvPr>
        </p:nvSpPr>
        <p:spPr>
          <a:xfrm>
            <a:off x="798064" y="361648"/>
            <a:ext cx="10515600" cy="1325563"/>
          </a:xfrm>
        </p:spPr>
        <p:txBody>
          <a:bodyPr/>
          <a:lstStyle/>
          <a:p>
            <a:r>
              <a:rPr lang="en-US" dirty="0"/>
              <a:t>BUSINESS INSIGHT</a:t>
            </a:r>
          </a:p>
        </p:txBody>
      </p:sp>
      <p:sp>
        <p:nvSpPr>
          <p:cNvPr id="4" name="Text Placeholder 3">
            <a:extLst>
              <a:ext uri="{FF2B5EF4-FFF2-40B4-BE49-F238E27FC236}">
                <a16:creationId xmlns:a16="http://schemas.microsoft.com/office/drawing/2014/main" id="{293C1E99-672F-46AE-BB08-DD22B0928366}"/>
              </a:ext>
            </a:extLst>
          </p:cNvPr>
          <p:cNvSpPr>
            <a:spLocks noGrp="1"/>
          </p:cNvSpPr>
          <p:nvPr>
            <p:ph type="body" idx="1"/>
          </p:nvPr>
        </p:nvSpPr>
        <p:spPr>
          <a:xfrm>
            <a:off x="857949" y="2130341"/>
            <a:ext cx="3789362" cy="823912"/>
          </a:xfrm>
        </p:spPr>
        <p:txBody>
          <a:bodyPr>
            <a:normAutofit/>
          </a:bodyPr>
          <a:lstStyle/>
          <a:p>
            <a:r>
              <a:rPr lang="en-US" sz="2000" dirty="0"/>
              <a:t>Highest Revenue &amp;</a:t>
            </a:r>
          </a:p>
          <a:p>
            <a:r>
              <a:rPr lang="en-US" sz="2000" dirty="0"/>
              <a:t> Profit Products</a:t>
            </a:r>
          </a:p>
        </p:txBody>
      </p:sp>
      <p:sp>
        <p:nvSpPr>
          <p:cNvPr id="5" name="Content Placeholder 4">
            <a:extLst>
              <a:ext uri="{FF2B5EF4-FFF2-40B4-BE49-F238E27FC236}">
                <a16:creationId xmlns:a16="http://schemas.microsoft.com/office/drawing/2014/main" id="{6DEAD4F2-C5CC-44E9-A092-76413D5CA7F4}"/>
              </a:ext>
            </a:extLst>
          </p:cNvPr>
          <p:cNvSpPr>
            <a:spLocks noGrp="1"/>
          </p:cNvSpPr>
          <p:nvPr>
            <p:ph sz="half" idx="2"/>
          </p:nvPr>
        </p:nvSpPr>
        <p:spPr>
          <a:xfrm>
            <a:off x="821373" y="3434047"/>
            <a:ext cx="3132000" cy="3105980"/>
          </a:xfrm>
        </p:spPr>
        <p:txBody>
          <a:bodyPr>
            <a:noAutofit/>
          </a:bodyPr>
          <a:lstStyle/>
          <a:p>
            <a:r>
              <a:rPr lang="en-US" dirty="0">
                <a:solidFill>
                  <a:schemeClr val="bg1"/>
                </a:solidFill>
              </a:rPr>
              <a:t>Phones generated the highest revenue and profit, making them the company's strongest-performing product.</a:t>
            </a:r>
          </a:p>
          <a:p>
            <a:pPr>
              <a:lnSpc>
                <a:spcPct val="100000"/>
              </a:lnSpc>
              <a:spcBef>
                <a:spcPts val="600"/>
              </a:spcBef>
              <a:buClr>
                <a:schemeClr val="accent1"/>
              </a:buClr>
            </a:pPr>
            <a:r>
              <a:rPr lang="en-US" dirty="0">
                <a:solidFill>
                  <a:schemeClr val="bg1"/>
                </a:solidFill>
              </a:rPr>
              <a:t>The company should prioritize maintaining adequate stock levels, introduce product bundles, and promote complementary accessories to maximize revenue and profit from this high-performing product</a:t>
            </a:r>
            <a:endParaRPr lang="en-US" i="1" dirty="0">
              <a:solidFill>
                <a:schemeClr val="bg1"/>
              </a:solidFill>
              <a:cs typeface="Arial"/>
            </a:endParaRPr>
          </a:p>
        </p:txBody>
      </p:sp>
      <p:sp>
        <p:nvSpPr>
          <p:cNvPr id="6" name="Text Placeholder 5">
            <a:extLst>
              <a:ext uri="{FF2B5EF4-FFF2-40B4-BE49-F238E27FC236}">
                <a16:creationId xmlns:a16="http://schemas.microsoft.com/office/drawing/2014/main" id="{38A73375-FA03-4191-8AD5-B40CD9B59B94}"/>
              </a:ext>
            </a:extLst>
          </p:cNvPr>
          <p:cNvSpPr>
            <a:spLocks noGrp="1"/>
          </p:cNvSpPr>
          <p:nvPr>
            <p:ph type="body" sz="quarter" idx="3"/>
          </p:nvPr>
        </p:nvSpPr>
        <p:spPr>
          <a:xfrm>
            <a:off x="4552950" y="2130341"/>
            <a:ext cx="4745038" cy="823912"/>
          </a:xfrm>
        </p:spPr>
        <p:txBody>
          <a:bodyPr>
            <a:normAutofit/>
          </a:bodyPr>
          <a:lstStyle/>
          <a:p>
            <a:pPr algn="just"/>
            <a:r>
              <a:rPr lang="en-US" sz="2000" dirty="0"/>
              <a:t>Revenue by Region</a:t>
            </a:r>
          </a:p>
        </p:txBody>
      </p:sp>
      <p:sp>
        <p:nvSpPr>
          <p:cNvPr id="7" name="Content Placeholder 6">
            <a:extLst>
              <a:ext uri="{FF2B5EF4-FFF2-40B4-BE49-F238E27FC236}">
                <a16:creationId xmlns:a16="http://schemas.microsoft.com/office/drawing/2014/main" id="{7E0C6FDF-5982-4E37-B65D-F7B05D0FFB52}"/>
              </a:ext>
            </a:extLst>
          </p:cNvPr>
          <p:cNvSpPr>
            <a:spLocks noGrp="1"/>
          </p:cNvSpPr>
          <p:nvPr>
            <p:ph sz="quarter" idx="4"/>
          </p:nvPr>
        </p:nvSpPr>
        <p:spPr>
          <a:xfrm>
            <a:off x="4553711" y="3434047"/>
            <a:ext cx="3361615" cy="2755616"/>
          </a:xfrm>
        </p:spPr>
        <p:txBody>
          <a:bodyPr>
            <a:noAutofit/>
          </a:bodyPr>
          <a:lstStyle/>
          <a:p>
            <a:pPr>
              <a:lnSpc>
                <a:spcPct val="100000"/>
              </a:lnSpc>
              <a:spcBef>
                <a:spcPts val="600"/>
              </a:spcBef>
              <a:buClr>
                <a:schemeClr val="accent1"/>
              </a:buClr>
            </a:pPr>
            <a:r>
              <a:rPr lang="en-US" dirty="0">
                <a:solidFill>
                  <a:schemeClr val="bg1"/>
                </a:solidFill>
              </a:rPr>
              <a:t>The Midwest contributed approximately </a:t>
            </a:r>
            <a:r>
              <a:rPr lang="en-US" b="1" dirty="0">
                <a:solidFill>
                  <a:schemeClr val="bg1"/>
                </a:solidFill>
              </a:rPr>
              <a:t>31.6%</a:t>
            </a:r>
            <a:r>
              <a:rPr lang="en-US" dirty="0">
                <a:solidFill>
                  <a:schemeClr val="bg1"/>
                </a:solidFill>
              </a:rPr>
              <a:t> of total company revenue, making it the company's strongest-performing region.</a:t>
            </a:r>
          </a:p>
          <a:p>
            <a:pPr>
              <a:lnSpc>
                <a:spcPct val="100000"/>
              </a:lnSpc>
              <a:spcBef>
                <a:spcPts val="600"/>
              </a:spcBef>
              <a:buClr>
                <a:schemeClr val="accent1"/>
              </a:buClr>
            </a:pPr>
            <a:r>
              <a:rPr lang="en-US" dirty="0">
                <a:solidFill>
                  <a:schemeClr val="bg1"/>
                </a:solidFill>
              </a:rPr>
              <a:t>The business strategies implemented in the Midwest should be analyzed and replicated in lower-performing regions to improve overall company performance</a:t>
            </a:r>
            <a:r>
              <a:rPr lang="en-US" dirty="0"/>
              <a:t>.</a:t>
            </a:r>
            <a:endParaRPr lang="en-US" i="1" dirty="0">
              <a:solidFill>
                <a:srgbClr val="FFFFFF"/>
              </a:solidFill>
              <a:cs typeface="Arial"/>
            </a:endParaRPr>
          </a:p>
        </p:txBody>
      </p:sp>
      <p:sp>
        <p:nvSpPr>
          <p:cNvPr id="8" name="Slide Number Placeholder 7">
            <a:extLst>
              <a:ext uri="{FF2B5EF4-FFF2-40B4-BE49-F238E27FC236}">
                <a16:creationId xmlns:a16="http://schemas.microsoft.com/office/drawing/2014/main" id="{68F7FB6B-EAC9-40F7-9522-61A8D53EFAF9}"/>
              </a:ext>
            </a:extLst>
          </p:cNvPr>
          <p:cNvSpPr>
            <a:spLocks noGrp="1"/>
          </p:cNvSpPr>
          <p:nvPr>
            <p:ph type="sldNum" sz="quarter" idx="12"/>
          </p:nvPr>
        </p:nvSpPr>
        <p:spPr/>
        <p:txBody>
          <a:bodyPr/>
          <a:lstStyle/>
          <a:p>
            <a:fld id="{82EE24B5-652C-4DB5-B7C3-B5BBEC1280B1}" type="slidenum">
              <a:rPr lang="en-US" smtClean="0"/>
              <a:t>8</a:t>
            </a:fld>
            <a:endParaRPr lang="en-US" dirty="0"/>
          </a:p>
        </p:txBody>
      </p:sp>
      <p:sp>
        <p:nvSpPr>
          <p:cNvPr id="9" name="object 5" descr="Beige rectangle">
            <a:extLst>
              <a:ext uri="{FF2B5EF4-FFF2-40B4-BE49-F238E27FC236}">
                <a16:creationId xmlns:a16="http://schemas.microsoft.com/office/drawing/2014/main" id="{890F7762-BD37-4D33-9F80-1DA07B5E172E}"/>
              </a:ext>
            </a:extLst>
          </p:cNvPr>
          <p:cNvSpPr/>
          <p:nvPr/>
        </p:nvSpPr>
        <p:spPr>
          <a:xfrm>
            <a:off x="915637" y="1337103"/>
            <a:ext cx="3744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sp>
        <p:nvSpPr>
          <p:cNvPr id="14" name="Text Placeholder 5">
            <a:extLst>
              <a:ext uri="{FF2B5EF4-FFF2-40B4-BE49-F238E27FC236}">
                <a16:creationId xmlns:a16="http://schemas.microsoft.com/office/drawing/2014/main" id="{A93FB3A3-CCE4-43B1-B396-B8819D20B354}"/>
              </a:ext>
            </a:extLst>
          </p:cNvPr>
          <p:cNvSpPr txBox="1">
            <a:spLocks/>
          </p:cNvSpPr>
          <p:nvPr/>
        </p:nvSpPr>
        <p:spPr>
          <a:xfrm>
            <a:off x="8568793" y="2133184"/>
            <a:ext cx="3429699"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000" dirty="0"/>
              <a:t>Revenue by Sales</a:t>
            </a:r>
          </a:p>
          <a:p>
            <a:r>
              <a:rPr lang="en-US" sz="2000" dirty="0"/>
              <a:t> Channel</a:t>
            </a:r>
          </a:p>
        </p:txBody>
      </p:sp>
      <p:sp>
        <p:nvSpPr>
          <p:cNvPr id="15" name="Content Placeholder 6">
            <a:extLst>
              <a:ext uri="{FF2B5EF4-FFF2-40B4-BE49-F238E27FC236}">
                <a16:creationId xmlns:a16="http://schemas.microsoft.com/office/drawing/2014/main" id="{17423A2D-9BA5-4783-9D7D-85F493300696}"/>
              </a:ext>
            </a:extLst>
          </p:cNvPr>
          <p:cNvSpPr txBox="1">
            <a:spLocks/>
          </p:cNvSpPr>
          <p:nvPr/>
        </p:nvSpPr>
        <p:spPr>
          <a:xfrm>
            <a:off x="8552751" y="3436890"/>
            <a:ext cx="3132000" cy="275561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Revenue is relatively balanced across all sales channels, with the Online channel generating the highest revenue.</a:t>
            </a:r>
          </a:p>
          <a:p>
            <a:pPr>
              <a:lnSpc>
                <a:spcPct val="100000"/>
              </a:lnSpc>
              <a:spcBef>
                <a:spcPts val="600"/>
              </a:spcBef>
              <a:buClr>
                <a:schemeClr val="accent1"/>
              </a:buClr>
            </a:pPr>
            <a:r>
              <a:rPr lang="en-US" dirty="0">
                <a:solidFill>
                  <a:schemeClr val="bg1"/>
                </a:solidFill>
              </a:rPr>
              <a:t>The balanced revenue distribution reduces business risk. However, the Online channel offers the greatest opportunity for future expansion through increased digital marketing and customer engagement.</a:t>
            </a:r>
            <a:endParaRPr lang="en-US" i="1" dirty="0">
              <a:solidFill>
                <a:schemeClr val="bg1"/>
              </a:solidFill>
              <a:cs typeface="Arial"/>
            </a:endParaRPr>
          </a:p>
        </p:txBody>
      </p:sp>
    </p:spTree>
    <p:extLst>
      <p:ext uri="{BB962C8B-B14F-4D97-AF65-F5344CB8AC3E}">
        <p14:creationId xmlns:p14="http://schemas.microsoft.com/office/powerpoint/2010/main" val="3327019842"/>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140CF4-2DAA-4239-BB77-274BDD82AB49}"/>
              </a:ext>
            </a:extLst>
          </p:cNvPr>
          <p:cNvSpPr>
            <a:spLocks noGrp="1"/>
          </p:cNvSpPr>
          <p:nvPr>
            <p:ph type="sldNum" sz="quarter" idx="12"/>
          </p:nvPr>
        </p:nvSpPr>
        <p:spPr/>
        <p:txBody>
          <a:bodyPr/>
          <a:lstStyle/>
          <a:p>
            <a:fld id="{82EE24B5-652C-4DB5-B7C3-B5BBEC1280B1}" type="slidenum">
              <a:rPr lang="en-US" smtClean="0"/>
              <a:t>9</a:t>
            </a:fld>
            <a:endParaRPr lang="en-US" dirty="0"/>
          </a:p>
        </p:txBody>
      </p:sp>
      <p:pic>
        <p:nvPicPr>
          <p:cNvPr id="4" name="Picture Placeholder 11" descr="Two men near laptop ">
            <a:extLst>
              <a:ext uri="{FF2B5EF4-FFF2-40B4-BE49-F238E27FC236}">
                <a16:creationId xmlns:a16="http://schemas.microsoft.com/office/drawing/2014/main" id="{509FA566-1699-4388-B44C-C3EE5EC0516B}"/>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flipH="1">
            <a:off x="0" y="2"/>
            <a:ext cx="6256751" cy="6857998"/>
          </a:xfrm>
          <a:prstGeom prst="rect">
            <a:avLst/>
          </a:prstGeom>
        </p:spPr>
      </p:pic>
      <p:sp>
        <p:nvSpPr>
          <p:cNvPr id="5" name="object 3" descr="Beige rectangle">
            <a:extLst>
              <a:ext uri="{FF2B5EF4-FFF2-40B4-BE49-F238E27FC236}">
                <a16:creationId xmlns:a16="http://schemas.microsoft.com/office/drawing/2014/main" id="{857A0168-DBD5-47D4-A751-3B39262D8254}"/>
              </a:ext>
            </a:extLst>
          </p:cNvPr>
          <p:cNvSpPr/>
          <p:nvPr/>
        </p:nvSpPr>
        <p:spPr>
          <a:xfrm>
            <a:off x="8355283" y="836613"/>
            <a:ext cx="3307960" cy="5184775"/>
          </a:xfrm>
          <a:custGeom>
            <a:avLst/>
            <a:gdLst/>
            <a:ahLst/>
            <a:cxnLst/>
            <a:rect l="l" t="t" r="r" b="b"/>
            <a:pathLst>
              <a:path w="4010659" h="333375">
                <a:moveTo>
                  <a:pt x="0" y="333006"/>
                </a:moveTo>
                <a:lnTo>
                  <a:pt x="4010367" y="333006"/>
                </a:lnTo>
                <a:lnTo>
                  <a:pt x="4010367" y="0"/>
                </a:lnTo>
                <a:lnTo>
                  <a:pt x="0" y="0"/>
                </a:lnTo>
                <a:lnTo>
                  <a:pt x="0" y="333006"/>
                </a:lnTo>
                <a:close/>
              </a:path>
            </a:pathLst>
          </a:custGeom>
          <a:solidFill>
            <a:schemeClr val="accent1"/>
          </a:solidFill>
        </p:spPr>
        <p:txBody>
          <a:bodyPr wrap="square" lIns="0" tIns="0" rIns="0" bIns="0" rtlCol="0"/>
          <a:lstStyle/>
          <a:p>
            <a:endParaRPr lang="en-US" dirty="0"/>
          </a:p>
        </p:txBody>
      </p:sp>
      <p:sp>
        <p:nvSpPr>
          <p:cNvPr id="6" name="object 6" descr="Blue rectangle">
            <a:extLst>
              <a:ext uri="{FF2B5EF4-FFF2-40B4-BE49-F238E27FC236}">
                <a16:creationId xmlns:a16="http://schemas.microsoft.com/office/drawing/2014/main" id="{7F009843-AFA3-44E8-B7D5-3F39B363C92E}"/>
              </a:ext>
            </a:extLst>
          </p:cNvPr>
          <p:cNvSpPr/>
          <p:nvPr/>
        </p:nvSpPr>
        <p:spPr>
          <a:xfrm>
            <a:off x="6226175" y="1"/>
            <a:ext cx="5056205" cy="6857999"/>
          </a:xfrm>
          <a:custGeom>
            <a:avLst/>
            <a:gdLst/>
            <a:ahLst/>
            <a:cxnLst/>
            <a:rect l="l" t="t" r="r" b="b"/>
            <a:pathLst>
              <a:path w="6689725" h="3528060">
                <a:moveTo>
                  <a:pt x="0" y="3527996"/>
                </a:moveTo>
                <a:lnTo>
                  <a:pt x="6689648" y="3527996"/>
                </a:lnTo>
                <a:lnTo>
                  <a:pt x="6689648" y="0"/>
                </a:lnTo>
                <a:lnTo>
                  <a:pt x="0" y="0"/>
                </a:lnTo>
                <a:lnTo>
                  <a:pt x="0" y="3527996"/>
                </a:lnTo>
                <a:close/>
              </a:path>
            </a:pathLst>
          </a:custGeom>
          <a:solidFill>
            <a:schemeClr val="accent2"/>
          </a:solidFill>
        </p:spPr>
        <p:txBody>
          <a:bodyPr wrap="square" lIns="0" tIns="0" rIns="0" bIns="0" rtlCol="0"/>
          <a:lstStyle/>
          <a:p>
            <a:endParaRPr lang="en-US" dirty="0"/>
          </a:p>
        </p:txBody>
      </p:sp>
      <p:sp>
        <p:nvSpPr>
          <p:cNvPr id="8" name="Text Placeholder 3">
            <a:extLst>
              <a:ext uri="{FF2B5EF4-FFF2-40B4-BE49-F238E27FC236}">
                <a16:creationId xmlns:a16="http://schemas.microsoft.com/office/drawing/2014/main" id="{FC6730AE-386B-426F-9F29-221DCC5F714D}"/>
              </a:ext>
            </a:extLst>
          </p:cNvPr>
          <p:cNvSpPr txBox="1">
            <a:spLocks/>
          </p:cNvSpPr>
          <p:nvPr/>
        </p:nvSpPr>
        <p:spPr>
          <a:xfrm>
            <a:off x="7472817" y="2860146"/>
            <a:ext cx="3461071" cy="7497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bg1"/>
                </a:solidFill>
              </a:rPr>
              <a:t>Expand High-Performing Product Categories</a:t>
            </a:r>
          </a:p>
        </p:txBody>
      </p:sp>
      <p:pic>
        <p:nvPicPr>
          <p:cNvPr id="9" name="Picture Placeholder 27" descr="Check mark">
            <a:extLst>
              <a:ext uri="{FF2B5EF4-FFF2-40B4-BE49-F238E27FC236}">
                <a16:creationId xmlns:a16="http://schemas.microsoft.com/office/drawing/2014/main" id="{9FC370A7-FF9A-42B0-9C14-95C57A9BC6D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6740067" y="2803684"/>
            <a:ext cx="720000" cy="720000"/>
          </a:xfrm>
          <a:prstGeom prst="rect">
            <a:avLst/>
          </a:prstGeom>
        </p:spPr>
      </p:pic>
      <p:pic>
        <p:nvPicPr>
          <p:cNvPr id="10" name="Picture Placeholder 29" descr="Check mark">
            <a:extLst>
              <a:ext uri="{FF2B5EF4-FFF2-40B4-BE49-F238E27FC236}">
                <a16:creationId xmlns:a16="http://schemas.microsoft.com/office/drawing/2014/main" id="{1630545B-ED3D-48DD-8CD5-CB200AA2D79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6740067" y="3693320"/>
            <a:ext cx="720000" cy="719999"/>
          </a:xfrm>
          <a:prstGeom prst="rect">
            <a:avLst/>
          </a:prstGeom>
        </p:spPr>
      </p:pic>
      <p:sp>
        <p:nvSpPr>
          <p:cNvPr id="11" name="Text Placeholder 17">
            <a:extLst>
              <a:ext uri="{FF2B5EF4-FFF2-40B4-BE49-F238E27FC236}">
                <a16:creationId xmlns:a16="http://schemas.microsoft.com/office/drawing/2014/main" id="{186A1D66-9F36-434B-9677-0FE61760AB97}"/>
              </a:ext>
            </a:extLst>
          </p:cNvPr>
          <p:cNvSpPr txBox="1">
            <a:spLocks/>
          </p:cNvSpPr>
          <p:nvPr/>
        </p:nvSpPr>
        <p:spPr>
          <a:xfrm>
            <a:off x="7472817" y="3794464"/>
            <a:ext cx="3307960" cy="74018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bg1"/>
                </a:solidFill>
              </a:rPr>
              <a:t>Maximize Phone Sales</a:t>
            </a:r>
          </a:p>
        </p:txBody>
      </p:sp>
      <p:pic>
        <p:nvPicPr>
          <p:cNvPr id="12" name="Picture Placeholder 31" descr="Check mark">
            <a:extLst>
              <a:ext uri="{FF2B5EF4-FFF2-40B4-BE49-F238E27FC236}">
                <a16:creationId xmlns:a16="http://schemas.microsoft.com/office/drawing/2014/main" id="{33C53E5C-0A10-46F8-9546-AB2C675452D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6740067" y="4621055"/>
            <a:ext cx="720000" cy="719999"/>
          </a:xfrm>
          <a:prstGeom prst="rect">
            <a:avLst/>
          </a:prstGeom>
        </p:spPr>
      </p:pic>
      <p:sp>
        <p:nvSpPr>
          <p:cNvPr id="13" name="Text Placeholder 19">
            <a:extLst>
              <a:ext uri="{FF2B5EF4-FFF2-40B4-BE49-F238E27FC236}">
                <a16:creationId xmlns:a16="http://schemas.microsoft.com/office/drawing/2014/main" id="{8744334E-DF9D-4600-8180-292072510183}"/>
              </a:ext>
            </a:extLst>
          </p:cNvPr>
          <p:cNvSpPr txBox="1">
            <a:spLocks/>
          </p:cNvSpPr>
          <p:nvPr/>
        </p:nvSpPr>
        <p:spPr>
          <a:xfrm>
            <a:off x="7472816" y="4704536"/>
            <a:ext cx="3098931" cy="109296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bg1"/>
                </a:solidFill>
              </a:rPr>
              <a:t>Improve Regional Performance</a:t>
            </a:r>
          </a:p>
        </p:txBody>
      </p:sp>
      <p:sp>
        <p:nvSpPr>
          <p:cNvPr id="14" name="object 27" descr="Beige rectangle">
            <a:extLst>
              <a:ext uri="{FF2B5EF4-FFF2-40B4-BE49-F238E27FC236}">
                <a16:creationId xmlns:a16="http://schemas.microsoft.com/office/drawing/2014/main" id="{7F820741-8871-4D59-8ED1-466FEFD2AF94}"/>
              </a:ext>
            </a:extLst>
          </p:cNvPr>
          <p:cNvSpPr/>
          <p:nvPr/>
        </p:nvSpPr>
        <p:spPr>
          <a:xfrm flipV="1">
            <a:off x="6892776" y="2384428"/>
            <a:ext cx="2412000" cy="75489"/>
          </a:xfrm>
          <a:custGeom>
            <a:avLst/>
            <a:gdLst/>
            <a:ahLst/>
            <a:cxnLst/>
            <a:rect l="l" t="t" r="r" b="b"/>
            <a:pathLst>
              <a:path w="2501265">
                <a:moveTo>
                  <a:pt x="0" y="0"/>
                </a:moveTo>
                <a:lnTo>
                  <a:pt x="2500883" y="0"/>
                </a:lnTo>
              </a:path>
            </a:pathLst>
          </a:custGeom>
          <a:ln w="54863">
            <a:solidFill>
              <a:schemeClr val="accent1"/>
            </a:solidFill>
          </a:ln>
        </p:spPr>
        <p:txBody>
          <a:bodyPr wrap="square" lIns="0" tIns="0" rIns="0" bIns="0" rtlCol="0"/>
          <a:lstStyle/>
          <a:p>
            <a:endParaRPr lang="en-US" dirty="0"/>
          </a:p>
        </p:txBody>
      </p:sp>
      <p:sp>
        <p:nvSpPr>
          <p:cNvPr id="2" name="Title 1">
            <a:extLst>
              <a:ext uri="{FF2B5EF4-FFF2-40B4-BE49-F238E27FC236}">
                <a16:creationId xmlns:a16="http://schemas.microsoft.com/office/drawing/2014/main" id="{95668119-9603-4701-8EEC-F2E48B808491}"/>
              </a:ext>
            </a:extLst>
          </p:cNvPr>
          <p:cNvSpPr>
            <a:spLocks noGrp="1"/>
          </p:cNvSpPr>
          <p:nvPr>
            <p:ph type="title"/>
          </p:nvPr>
        </p:nvSpPr>
        <p:spPr>
          <a:xfrm>
            <a:off x="6758354" y="1279525"/>
            <a:ext cx="4421229" cy="1325563"/>
          </a:xfrm>
        </p:spPr>
        <p:txBody>
          <a:bodyPr>
            <a:normAutofit fontScale="90000"/>
          </a:bodyPr>
          <a:lstStyle/>
          <a:p>
            <a:r>
              <a:rPr lang="en-US" dirty="0">
                <a:solidFill>
                  <a:schemeClr val="bg1"/>
                </a:solidFill>
              </a:rPr>
              <a:t>STRATEGIC RECOMMENDATIONS</a:t>
            </a:r>
          </a:p>
        </p:txBody>
      </p:sp>
    </p:spTree>
    <p:extLst>
      <p:ext uri="{BB962C8B-B14F-4D97-AF65-F5344CB8AC3E}">
        <p14:creationId xmlns:p14="http://schemas.microsoft.com/office/powerpoint/2010/main" val="3298964373"/>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330DBC9-EEFC-416D-BFAD-DB6D1A9E8CB2}"/>
              </a:ext>
            </a:extLst>
          </p:cNvPr>
          <p:cNvSpPr>
            <a:spLocks noGrp="1"/>
          </p:cNvSpPr>
          <p:nvPr>
            <p:ph type="sldNum" sz="quarter" idx="12"/>
          </p:nvPr>
        </p:nvSpPr>
        <p:spPr/>
        <p:txBody>
          <a:bodyPr/>
          <a:lstStyle/>
          <a:p>
            <a:fld id="{82EE24B5-652C-4DB5-B7C3-B5BBEC1280B1}" type="slidenum">
              <a:rPr lang="en-US" smtClean="0"/>
              <a:t>10</a:t>
            </a:fld>
            <a:endParaRPr lang="en-US" dirty="0"/>
          </a:p>
        </p:txBody>
      </p:sp>
      <p:sp>
        <p:nvSpPr>
          <p:cNvPr id="14" name="object 13" descr="Beige rectangle">
            <a:extLst>
              <a:ext uri="{FF2B5EF4-FFF2-40B4-BE49-F238E27FC236}">
                <a16:creationId xmlns:a16="http://schemas.microsoft.com/office/drawing/2014/main" id="{FEBB8673-0A72-4C5C-8239-7EF600504010}"/>
              </a:ext>
            </a:extLst>
          </p:cNvPr>
          <p:cNvSpPr/>
          <p:nvPr/>
        </p:nvSpPr>
        <p:spPr>
          <a:xfrm>
            <a:off x="915657" y="1732553"/>
            <a:ext cx="3096000" cy="0"/>
          </a:xfrm>
          <a:custGeom>
            <a:avLst/>
            <a:gdLst/>
            <a:ahLst/>
            <a:cxnLst/>
            <a:rect l="l" t="t" r="r" b="b"/>
            <a:pathLst>
              <a:path w="2694304">
                <a:moveTo>
                  <a:pt x="0" y="0"/>
                </a:moveTo>
                <a:lnTo>
                  <a:pt x="2694127" y="0"/>
                </a:lnTo>
              </a:path>
            </a:pathLst>
          </a:custGeom>
          <a:ln w="54863">
            <a:solidFill>
              <a:schemeClr val="accent1"/>
            </a:solidFill>
          </a:ln>
        </p:spPr>
        <p:txBody>
          <a:bodyPr wrap="square" lIns="0" tIns="0" rIns="0" bIns="0" rtlCol="0"/>
          <a:lstStyle/>
          <a:p>
            <a:endParaRPr lang="en-US" dirty="0"/>
          </a:p>
        </p:txBody>
      </p:sp>
      <p:sp>
        <p:nvSpPr>
          <p:cNvPr id="23" name="object 6" descr="Blue rectangle">
            <a:extLst>
              <a:ext uri="{FF2B5EF4-FFF2-40B4-BE49-F238E27FC236}">
                <a16:creationId xmlns:a16="http://schemas.microsoft.com/office/drawing/2014/main" id="{B0055A6C-109A-99FF-759E-897D3F2BC8FC}"/>
              </a:ext>
            </a:extLst>
          </p:cNvPr>
          <p:cNvSpPr/>
          <p:nvPr/>
        </p:nvSpPr>
        <p:spPr>
          <a:xfrm>
            <a:off x="1" y="0"/>
            <a:ext cx="5330756" cy="6858000"/>
          </a:xfrm>
          <a:custGeom>
            <a:avLst/>
            <a:gdLst/>
            <a:ahLst/>
            <a:cxnLst/>
            <a:rect l="l" t="t" r="r" b="b"/>
            <a:pathLst>
              <a:path w="6689725" h="3528060">
                <a:moveTo>
                  <a:pt x="0" y="3527996"/>
                </a:moveTo>
                <a:lnTo>
                  <a:pt x="6689648" y="3527996"/>
                </a:lnTo>
                <a:lnTo>
                  <a:pt x="6689648" y="0"/>
                </a:lnTo>
                <a:lnTo>
                  <a:pt x="0" y="0"/>
                </a:lnTo>
                <a:lnTo>
                  <a:pt x="0" y="3527996"/>
                </a:lnTo>
                <a:close/>
              </a:path>
            </a:pathLst>
          </a:custGeom>
          <a:solidFill>
            <a:schemeClr val="accent2"/>
          </a:solidFill>
        </p:spPr>
        <p:txBody>
          <a:bodyPr wrap="square" lIns="0" tIns="0" rIns="0" bIns="0" rtlCol="0"/>
          <a:lstStyle/>
          <a:p>
            <a:endParaRPr lang="en-US" dirty="0"/>
          </a:p>
        </p:txBody>
      </p:sp>
      <p:sp>
        <p:nvSpPr>
          <p:cNvPr id="3" name="Text Placeholder 2">
            <a:extLst>
              <a:ext uri="{FF2B5EF4-FFF2-40B4-BE49-F238E27FC236}">
                <a16:creationId xmlns:a16="http://schemas.microsoft.com/office/drawing/2014/main" id="{18397F9A-0355-4091-BDD7-5C578348C1FB}"/>
              </a:ext>
            </a:extLst>
          </p:cNvPr>
          <p:cNvSpPr>
            <a:spLocks noGrp="1"/>
          </p:cNvSpPr>
          <p:nvPr>
            <p:ph type="body" sz="half" idx="2"/>
          </p:nvPr>
        </p:nvSpPr>
        <p:spPr>
          <a:xfrm>
            <a:off x="566177" y="1420239"/>
            <a:ext cx="11259783" cy="5893484"/>
          </a:xfrm>
        </p:spPr>
        <p:txBody>
          <a:bodyPr>
            <a:normAutofit/>
          </a:bodyPr>
          <a:lstStyle/>
          <a:p>
            <a:r>
              <a:rPr lang="en-US" sz="2400" dirty="0"/>
              <a:t>To improve the performance of underperforming product categories such as </a:t>
            </a:r>
            <a:r>
              <a:rPr lang="en-US" sz="2400" b="1" dirty="0"/>
              <a:t>Lighting, Collections, Drinkware, and Electronics</a:t>
            </a:r>
            <a:r>
              <a:rPr lang="en-US" sz="2400" dirty="0"/>
              <a:t>, the company should implement targeted marketing campaigns, review pricing strategies, improve product visibility through cross-selling and bundling, regularly evaluate product performance, and optimize inventory levels to better align with customer demand.</a:t>
            </a:r>
          </a:p>
          <a:p>
            <a:endParaRPr lang="en-US" sz="2400" dirty="0"/>
          </a:p>
          <a:p>
            <a:r>
              <a:rPr lang="en-US" sz="2400" b="1" dirty="0"/>
              <a:t>Potential Consequences if No Action Is Taken:</a:t>
            </a:r>
          </a:p>
          <a:p>
            <a:br>
              <a:rPr lang="en-US" sz="2400" dirty="0"/>
            </a:br>
            <a:r>
              <a:rPr lang="en-US" sz="2400" dirty="0"/>
              <a:t>Failure to address the underperformance of these categories could result in slower revenue growth, reduced profitability, and excess inventory that ties up working capital and increases storage costs. Over time, this may weaken the company's competitive position and limit its ability to invest in higher-performing products and future growth opportunities.</a:t>
            </a:r>
          </a:p>
        </p:txBody>
      </p:sp>
      <p:sp>
        <p:nvSpPr>
          <p:cNvPr id="2" name="Title 1">
            <a:extLst>
              <a:ext uri="{FF2B5EF4-FFF2-40B4-BE49-F238E27FC236}">
                <a16:creationId xmlns:a16="http://schemas.microsoft.com/office/drawing/2014/main" id="{05F54379-12DC-488A-96E2-264D244A381B}"/>
              </a:ext>
            </a:extLst>
          </p:cNvPr>
          <p:cNvSpPr>
            <a:spLocks noGrp="1"/>
          </p:cNvSpPr>
          <p:nvPr>
            <p:ph type="title"/>
          </p:nvPr>
        </p:nvSpPr>
        <p:spPr>
          <a:xfrm>
            <a:off x="699260" y="186305"/>
            <a:ext cx="3932237" cy="778211"/>
          </a:xfrm>
        </p:spPr>
        <p:txBody>
          <a:bodyPr/>
          <a:lstStyle/>
          <a:p>
            <a:r>
              <a:rPr lang="en-US" dirty="0">
                <a:solidFill>
                  <a:schemeClr val="bg1"/>
                </a:solidFill>
              </a:rPr>
              <a:t>Recommendation</a:t>
            </a:r>
          </a:p>
        </p:txBody>
      </p:sp>
    </p:spTree>
    <p:extLst>
      <p:ext uri="{BB962C8B-B14F-4D97-AF65-F5344CB8AC3E}">
        <p14:creationId xmlns:p14="http://schemas.microsoft.com/office/powerpoint/2010/main" val="2096756271"/>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13" descr="People discuss something">
            <a:extLst>
              <a:ext uri="{FF2B5EF4-FFF2-40B4-BE49-F238E27FC236}">
                <a16:creationId xmlns:a16="http://schemas.microsoft.com/office/drawing/2014/main" id="{6A931DA1-E5DB-4DC7-8587-13E03646B8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sp>
        <p:nvSpPr>
          <p:cNvPr id="5" name="object 3" descr="Blue rectangle">
            <a:extLst>
              <a:ext uri="{FF2B5EF4-FFF2-40B4-BE49-F238E27FC236}">
                <a16:creationId xmlns:a16="http://schemas.microsoft.com/office/drawing/2014/main" id="{4BECF646-53D1-45AC-B3BD-A354F97BF990}"/>
              </a:ext>
            </a:extLst>
          </p:cNvPr>
          <p:cNvSpPr/>
          <p:nvPr/>
        </p:nvSpPr>
        <p:spPr>
          <a:xfrm>
            <a:off x="0" y="0"/>
            <a:ext cx="121920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6" name="Oval 5" descr="White circle">
            <a:extLst>
              <a:ext uri="{FF2B5EF4-FFF2-40B4-BE49-F238E27FC236}">
                <a16:creationId xmlns:a16="http://schemas.microsoft.com/office/drawing/2014/main" id="{E10F3DCC-07E6-4D59-A431-A1635C969E18}"/>
              </a:ext>
            </a:extLst>
          </p:cNvPr>
          <p:cNvSpPr/>
          <p:nvPr/>
        </p:nvSpPr>
        <p:spPr>
          <a:xfrm>
            <a:off x="3814456" y="1611824"/>
            <a:ext cx="4494508" cy="44945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descr="Beige oval">
            <a:extLst>
              <a:ext uri="{FF2B5EF4-FFF2-40B4-BE49-F238E27FC236}">
                <a16:creationId xmlns:a16="http://schemas.microsoft.com/office/drawing/2014/main" id="{EA8B42FD-C023-4644-96AC-8980751FF7A1}"/>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bject 5" descr="Beige rectangle">
            <a:extLst>
              <a:ext uri="{FF2B5EF4-FFF2-40B4-BE49-F238E27FC236}">
                <a16:creationId xmlns:a16="http://schemas.microsoft.com/office/drawing/2014/main" id="{BC044FB9-974F-468C-959D-DBB001422531}"/>
              </a:ext>
            </a:extLst>
          </p:cNvPr>
          <p:cNvSpPr/>
          <p:nvPr/>
        </p:nvSpPr>
        <p:spPr>
          <a:xfrm>
            <a:off x="921016" y="1323349"/>
            <a:ext cx="3204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graphicFrame>
        <p:nvGraphicFramePr>
          <p:cNvPr id="9" name="Content Placeholder 24" descr="Chart">
            <a:extLst>
              <a:ext uri="{FF2B5EF4-FFF2-40B4-BE49-F238E27FC236}">
                <a16:creationId xmlns:a16="http://schemas.microsoft.com/office/drawing/2014/main" id="{EE0E2830-BDA5-4A5D-AA0B-457EF9EC9799}"/>
              </a:ext>
            </a:extLst>
          </p:cNvPr>
          <p:cNvGraphicFramePr>
            <a:graphicFrameLocks/>
          </p:cNvGraphicFramePr>
          <p:nvPr>
            <p:extLst>
              <p:ext uri="{D42A27DB-BD31-4B8C-83A1-F6EECF244321}">
                <p14:modId xmlns:p14="http://schemas.microsoft.com/office/powerpoint/2010/main" val="825371053"/>
              </p:ext>
            </p:extLst>
          </p:nvPr>
        </p:nvGraphicFramePr>
        <p:xfrm>
          <a:off x="2485867" y="1699285"/>
          <a:ext cx="7151687" cy="4319587"/>
        </p:xfrm>
        <a:graphic>
          <a:graphicData uri="http://schemas.openxmlformats.org/drawingml/2006/chart">
            <c:chart xmlns:c="http://schemas.openxmlformats.org/drawingml/2006/chart" xmlns:r="http://schemas.openxmlformats.org/officeDocument/2006/relationships" r:id="rId4"/>
          </a:graphicData>
        </a:graphic>
      </p:graphicFrame>
      <p:sp>
        <p:nvSpPr>
          <p:cNvPr id="2" name="Title 1">
            <a:extLst>
              <a:ext uri="{FF2B5EF4-FFF2-40B4-BE49-F238E27FC236}">
                <a16:creationId xmlns:a16="http://schemas.microsoft.com/office/drawing/2014/main" id="{48902E4B-FC75-4695-90B2-F3C6A6F405F5}"/>
              </a:ext>
            </a:extLst>
          </p:cNvPr>
          <p:cNvSpPr>
            <a:spLocks noGrp="1"/>
          </p:cNvSpPr>
          <p:nvPr>
            <p:ph type="title"/>
          </p:nvPr>
        </p:nvSpPr>
        <p:spPr>
          <a:xfrm>
            <a:off x="4780185" y="2598273"/>
            <a:ext cx="3204001" cy="2521609"/>
          </a:xfrm>
        </p:spPr>
        <p:txBody>
          <a:bodyPr>
            <a:normAutofit/>
          </a:bodyPr>
          <a:lstStyle/>
          <a:p>
            <a:r>
              <a:rPr lang="en-US" sz="6000" dirty="0">
                <a:solidFill>
                  <a:schemeClr val="accent3"/>
                </a:solidFill>
                <a:latin typeface="Arial Black" panose="020B0A04020102020204" pitchFamily="34" charset="0"/>
              </a:rPr>
              <a:t>Q &amp; A </a:t>
            </a:r>
          </a:p>
        </p:txBody>
      </p:sp>
      <p:sp>
        <p:nvSpPr>
          <p:cNvPr id="3" name="Slide Number Placeholder 2">
            <a:extLst>
              <a:ext uri="{FF2B5EF4-FFF2-40B4-BE49-F238E27FC236}">
                <a16:creationId xmlns:a16="http://schemas.microsoft.com/office/drawing/2014/main" id="{AEFA1E07-4A98-42A5-80C7-7135F4306248}"/>
              </a:ext>
            </a:extLst>
          </p:cNvPr>
          <p:cNvSpPr>
            <a:spLocks noGrp="1"/>
          </p:cNvSpPr>
          <p:nvPr>
            <p:ph type="sldNum" sz="quarter" idx="12"/>
          </p:nvPr>
        </p:nvSpPr>
        <p:spPr>
          <a:xfrm>
            <a:off x="11484342" y="6174902"/>
            <a:ext cx="357116" cy="365125"/>
          </a:xfrm>
        </p:spPr>
        <p:txBody>
          <a:bodyPr/>
          <a:lstStyle/>
          <a:p>
            <a:fld id="{82EE24B5-652C-4DB5-B7C3-B5BBEC1280B1}" type="slidenum">
              <a:rPr lang="en-US" smtClean="0"/>
              <a:t>11</a:t>
            </a:fld>
            <a:endParaRPr lang="en-US" dirty="0"/>
          </a:p>
        </p:txBody>
      </p:sp>
    </p:spTree>
    <p:extLst>
      <p:ext uri="{BB962C8B-B14F-4D97-AF65-F5344CB8AC3E}">
        <p14:creationId xmlns:p14="http://schemas.microsoft.com/office/powerpoint/2010/main" val="1489728907"/>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a:blip r:embed="rId3"/>
          <a:stretch>
            <a:fillRect l="-12" r="-12"/>
          </a:stretch>
        </a:blipFill>
        <a:effectLst/>
      </p:bgPr>
    </p:bg>
    <p:spTree>
      <p:nvGrpSpPr>
        <p:cNvPr id="1" name=""/>
        <p:cNvGrpSpPr/>
        <p:nvPr/>
      </p:nvGrpSpPr>
      <p:grpSpPr>
        <a:xfrm>
          <a:off x="0" y="0"/>
          <a:ext cx="0" cy="0"/>
          <a:chOff x="0" y="0"/>
          <a:chExt cx="0" cy="0"/>
        </a:xfrm>
      </p:grpSpPr>
      <p:pic>
        <p:nvPicPr>
          <p:cNvPr id="4" name="Content Placeholder 6" descr="Girl with documents">
            <a:extLst>
              <a:ext uri="{FF2B5EF4-FFF2-40B4-BE49-F238E27FC236}">
                <a16:creationId xmlns:a16="http://schemas.microsoft.com/office/drawing/2014/main" id="{BD5BAEF8-04EE-4148-AB9D-25427A9268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1" y="675"/>
            <a:ext cx="12189600" cy="6856650"/>
          </a:xfrm>
          <a:prstGeom prst="rect">
            <a:avLst/>
          </a:prstGeom>
        </p:spPr>
      </p:pic>
      <p:sp>
        <p:nvSpPr>
          <p:cNvPr id="6" name="object 6" descr="Beige rectangle">
            <a:extLst>
              <a:ext uri="{FF2B5EF4-FFF2-40B4-BE49-F238E27FC236}">
                <a16:creationId xmlns:a16="http://schemas.microsoft.com/office/drawing/2014/main" id="{B0C70F64-F3E5-413B-AF4F-E15CE944B761}"/>
              </a:ext>
            </a:extLst>
          </p:cNvPr>
          <p:cNvSpPr/>
          <p:nvPr/>
        </p:nvSpPr>
        <p:spPr>
          <a:xfrm>
            <a:off x="931203" y="2894901"/>
            <a:ext cx="4176000" cy="0"/>
          </a:xfrm>
          <a:custGeom>
            <a:avLst/>
            <a:gdLst/>
            <a:ahLst/>
            <a:cxnLst/>
            <a:rect l="l" t="t" r="r" b="b"/>
            <a:pathLst>
              <a:path w="4206240">
                <a:moveTo>
                  <a:pt x="0" y="0"/>
                </a:moveTo>
                <a:lnTo>
                  <a:pt x="4206240" y="0"/>
                </a:lnTo>
              </a:path>
            </a:pathLst>
          </a:custGeom>
          <a:ln w="54863">
            <a:solidFill>
              <a:schemeClr val="accent1"/>
            </a:solidFill>
          </a:ln>
        </p:spPr>
        <p:txBody>
          <a:bodyPr wrap="square" lIns="0" tIns="0" rIns="0" bIns="0" rtlCol="0"/>
          <a:lstStyle/>
          <a:p>
            <a:endParaRPr lang="en-US" dirty="0"/>
          </a:p>
        </p:txBody>
      </p:sp>
      <p:pic>
        <p:nvPicPr>
          <p:cNvPr id="8" name="Graphic 7" descr="Person icon">
            <a:extLst>
              <a:ext uri="{FF2B5EF4-FFF2-40B4-BE49-F238E27FC236}">
                <a16:creationId xmlns:a16="http://schemas.microsoft.com/office/drawing/2014/main" id="{AC7339AD-1A2B-4702-8C29-5CFB6D1BBB5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5237" y="3470503"/>
            <a:ext cx="342900" cy="352425"/>
          </a:xfrm>
          <a:prstGeom prst="rect">
            <a:avLst/>
          </a:prstGeom>
        </p:spPr>
      </p:pic>
      <p:pic>
        <p:nvPicPr>
          <p:cNvPr id="9" name="Graphic 8" descr="Mail icon">
            <a:extLst>
              <a:ext uri="{FF2B5EF4-FFF2-40B4-BE49-F238E27FC236}">
                <a16:creationId xmlns:a16="http://schemas.microsoft.com/office/drawing/2014/main" id="{DE19364B-D5B6-43E8-B6E4-DC0094FA3CD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5237" y="3965704"/>
            <a:ext cx="342900" cy="342900"/>
          </a:xfrm>
          <a:prstGeom prst="rect">
            <a:avLst/>
          </a:prstGeom>
        </p:spPr>
      </p:pic>
      <p:pic>
        <p:nvPicPr>
          <p:cNvPr id="10" name="Graphic 9" descr="Phone icon">
            <a:extLst>
              <a:ext uri="{FF2B5EF4-FFF2-40B4-BE49-F238E27FC236}">
                <a16:creationId xmlns:a16="http://schemas.microsoft.com/office/drawing/2014/main" id="{7821267F-71E4-4DA4-8BC7-EB091622077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5237" y="4451380"/>
            <a:ext cx="342900" cy="342900"/>
          </a:xfrm>
          <a:prstGeom prst="rect">
            <a:avLst/>
          </a:prstGeom>
        </p:spPr>
      </p:pic>
      <p:sp>
        <p:nvSpPr>
          <p:cNvPr id="2" name="Title 1">
            <a:extLst>
              <a:ext uri="{FF2B5EF4-FFF2-40B4-BE49-F238E27FC236}">
                <a16:creationId xmlns:a16="http://schemas.microsoft.com/office/drawing/2014/main" id="{1BD43A5E-77DF-44FD-800D-158434A3ABC6}"/>
              </a:ext>
            </a:extLst>
          </p:cNvPr>
          <p:cNvSpPr>
            <a:spLocks noGrp="1"/>
          </p:cNvSpPr>
          <p:nvPr>
            <p:ph type="title"/>
          </p:nvPr>
        </p:nvSpPr>
        <p:spPr>
          <a:xfrm>
            <a:off x="838200" y="1701559"/>
            <a:ext cx="4859215" cy="1325563"/>
          </a:xfrm>
        </p:spPr>
        <p:txBody>
          <a:bodyPr>
            <a:normAutofit/>
          </a:bodyPr>
          <a:lstStyle/>
          <a:p>
            <a:r>
              <a:rPr lang="en-US" sz="5000" dirty="0">
                <a:solidFill>
                  <a:schemeClr val="bg1"/>
                </a:solidFill>
              </a:rPr>
              <a:t>THANK YOU!</a:t>
            </a:r>
            <a:endParaRPr lang="en-US" sz="5000" dirty="0"/>
          </a:p>
        </p:txBody>
      </p:sp>
      <p:pic>
        <p:nvPicPr>
          <p:cNvPr id="7" name="Picture 6">
            <a:extLst>
              <a:ext uri="{FF2B5EF4-FFF2-40B4-BE49-F238E27FC236}">
                <a16:creationId xmlns:a16="http://schemas.microsoft.com/office/drawing/2014/main" id="{9D0307B7-11A7-5F0F-8288-DBA26BF165A1}"/>
              </a:ext>
            </a:extLst>
          </p:cNvPr>
          <p:cNvPicPr>
            <a:picLocks noChangeAspect="1"/>
          </p:cNvPicPr>
          <p:nvPr/>
        </p:nvPicPr>
        <p:blipFill>
          <a:blip r:embed="rId8">
            <a:extLst>
              <a:ext uri="{28A0092B-C50C-407E-A947-70E740481C1C}">
                <a14:useLocalDpi xmlns:a14="http://schemas.microsoft.com/office/drawing/2010/main" val="0"/>
              </a:ext>
            </a:extLst>
          </a:blip>
          <a:srcRect l="-101" t="-2470"/>
          <a:stretch>
            <a:fillRect/>
          </a:stretch>
        </p:blipFill>
        <p:spPr>
          <a:xfrm>
            <a:off x="6041239" y="-182880"/>
            <a:ext cx="6126480" cy="7040880"/>
          </a:xfrm>
          <a:prstGeom prst="rect">
            <a:avLst/>
          </a:prstGeom>
          <a:effectLst>
            <a:outerShdw blurRad="50800" dir="5400000" algn="ctr" rotWithShape="0">
              <a:srgbClr val="000000">
                <a:alpha val="31000"/>
              </a:srgbClr>
            </a:outerShdw>
          </a:effectLst>
          <a:scene3d>
            <a:camera prst="orthographicFront"/>
            <a:lightRig rig="threePt" dir="t"/>
          </a:scene3d>
          <a:sp3d extrusionH="260350"/>
        </p:spPr>
      </p:pic>
      <p:sp>
        <p:nvSpPr>
          <p:cNvPr id="5" name="Content Placeholder 4">
            <a:extLst>
              <a:ext uri="{FF2B5EF4-FFF2-40B4-BE49-F238E27FC236}">
                <a16:creationId xmlns:a16="http://schemas.microsoft.com/office/drawing/2014/main" id="{D5537408-2125-4CE5-92A7-F7E0FCBA31D0}"/>
              </a:ext>
            </a:extLst>
          </p:cNvPr>
          <p:cNvSpPr txBox="1">
            <a:spLocks/>
          </p:cNvSpPr>
          <p:nvPr/>
        </p:nvSpPr>
        <p:spPr>
          <a:xfrm>
            <a:off x="-1" y="1341439"/>
            <a:ext cx="6348413" cy="4140200"/>
          </a:xfrm>
          <a:prstGeom prst="rect">
            <a:avLst/>
          </a:prstGeom>
          <a:solidFill>
            <a:schemeClr val="accent2"/>
          </a:solidFill>
        </p:spPr>
        <p:txBody>
          <a:bodyPr lIns="1548000" tIns="216000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100"/>
              </a:spcBef>
              <a:buFont typeface="Arial" panose="020B0604020202020204" pitchFamily="34" charset="0"/>
              <a:buNone/>
            </a:pPr>
            <a:r>
              <a:rPr lang="en-US" sz="2500" b="1" i="1" spc="60" dirty="0">
                <a:solidFill>
                  <a:schemeClr val="bg2">
                    <a:lumMod val="20000"/>
                    <a:lumOff val="80000"/>
                    <a:alpha val="75000"/>
                  </a:schemeClr>
                </a:solidFill>
                <a:cs typeface="Arial"/>
              </a:rPr>
              <a:t>Bamikole Ilesanmi</a:t>
            </a:r>
            <a:endParaRPr lang="en-US" sz="2500" b="1" i="1" dirty="0">
              <a:solidFill>
                <a:schemeClr val="bg2">
                  <a:lumMod val="20000"/>
                  <a:lumOff val="80000"/>
                  <a:alpha val="75000"/>
                </a:schemeClr>
              </a:solidFill>
              <a:cs typeface="Arial"/>
            </a:endParaRPr>
          </a:p>
          <a:p>
            <a:pPr marL="0" marR="5080" indent="0">
              <a:buFont typeface="Arial" panose="020B0604020202020204" pitchFamily="34" charset="0"/>
              <a:buNone/>
            </a:pPr>
            <a:r>
              <a:rPr lang="en-US" sz="2000" b="1" i="1" spc="70" dirty="0">
                <a:solidFill>
                  <a:schemeClr val="bg2">
                    <a:lumMod val="20000"/>
                    <a:lumOff val="80000"/>
                    <a:alpha val="75000"/>
                  </a:schemeClr>
                </a:solidFill>
                <a:cs typeface="Arial"/>
              </a:rPr>
              <a:t>bamikoleilesanmi07@gmail.com</a:t>
            </a:r>
          </a:p>
          <a:p>
            <a:pPr marL="0" marR="5080" indent="0">
              <a:buFont typeface="Arial" panose="020B0604020202020204" pitchFamily="34" charset="0"/>
              <a:buNone/>
            </a:pPr>
            <a:r>
              <a:rPr lang="en-US" sz="2500" b="1" i="1" spc="45" dirty="0">
                <a:solidFill>
                  <a:schemeClr val="bg2">
                    <a:lumMod val="20000"/>
                    <a:lumOff val="80000"/>
                    <a:alpha val="75000"/>
                  </a:schemeClr>
                </a:solidFill>
                <a:cs typeface="Arial"/>
              </a:rPr>
              <a:t>+234-9168069576</a:t>
            </a:r>
            <a:endParaRPr lang="en-US" sz="2500" b="1" i="1" dirty="0">
              <a:solidFill>
                <a:schemeClr val="bg2">
                  <a:lumMod val="20000"/>
                  <a:lumOff val="80000"/>
                  <a:alpha val="75000"/>
                </a:schemeClr>
              </a:solidFill>
              <a:cs typeface="Arial"/>
            </a:endParaRPr>
          </a:p>
          <a:p>
            <a:pPr marL="0" indent="0">
              <a:lnSpc>
                <a:spcPct val="125000"/>
              </a:lnSpc>
              <a:buFont typeface="Arial" panose="020B0604020202020204" pitchFamily="34" charset="0"/>
              <a:buNone/>
            </a:pPr>
            <a:endParaRPr lang="en-US" sz="2500" b="1" dirty="0">
              <a:solidFill>
                <a:schemeClr val="bg2">
                  <a:alpha val="50000"/>
                </a:schemeClr>
              </a:solidFill>
            </a:endParaRPr>
          </a:p>
        </p:txBody>
      </p:sp>
    </p:spTree>
    <p:extLst>
      <p:ext uri="{BB962C8B-B14F-4D97-AF65-F5344CB8AC3E}">
        <p14:creationId xmlns:p14="http://schemas.microsoft.com/office/powerpoint/2010/main" val="1486951216"/>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theme/theme1.xml><?xml version="1.0" encoding="utf-8"?>
<a:theme xmlns:a="http://schemas.openxmlformats.org/drawingml/2006/main" name="Office Theme">
  <a:themeElements>
    <a:clrScheme name="Custom 30">
      <a:dk1>
        <a:sysClr val="windowText" lastClr="000000"/>
      </a:dk1>
      <a:lt1>
        <a:sysClr val="window" lastClr="FFFFFF"/>
      </a:lt1>
      <a:dk2>
        <a:srgbClr val="00292E"/>
      </a:dk2>
      <a:lt2>
        <a:srgbClr val="64B2C1"/>
      </a:lt2>
      <a:accent1>
        <a:srgbClr val="F0CDA1"/>
      </a:accent1>
      <a:accent2>
        <a:srgbClr val="107082"/>
      </a:accent2>
      <a:accent3>
        <a:srgbClr val="054854"/>
      </a:accent3>
      <a:accent4>
        <a:srgbClr val="00AEEF"/>
      </a:accent4>
      <a:accent5>
        <a:srgbClr val="F99927"/>
      </a:accent5>
      <a:accent6>
        <a:srgbClr val="EC7216"/>
      </a:accent6>
      <a:hlink>
        <a:srgbClr val="000000"/>
      </a:hlink>
      <a:folHlink>
        <a:srgbClr val="000000"/>
      </a:folHlink>
    </a:clrScheme>
    <a:fontScheme name="Custom 24">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45022061_Professional services marketing plan_SL_V1" id="{B214D568-CC3C-4109-877A-D7A12976D35F}" vid="{D425069E-A49A-4A86-9A62-1864F0635A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A2DDA16B-F3AC-4A5B-9F5F-6F5A8F47A9E6}">
  <ds:schemaRefs>
    <ds:schemaRef ds:uri="http://schemas.microsoft.com/sharepoint/v3/contenttype/forms"/>
  </ds:schemaRefs>
</ds:datastoreItem>
</file>

<file path=customXml/itemProps2.xml><?xml version="1.0" encoding="utf-8"?>
<ds:datastoreItem xmlns:ds="http://schemas.openxmlformats.org/officeDocument/2006/customXml" ds:itemID="{A426FE2C-7640-4BF0-9D68-FDFD4151FD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118CE8-9293-4220-BA3B-5D353B13ABC9}">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Professional services marketing plan</Template>
  <TotalTime>123</TotalTime>
  <Words>580</Words>
  <Application>Microsoft Office PowerPoint</Application>
  <PresentationFormat>Widescreen</PresentationFormat>
  <Paragraphs>107</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vt:lpstr>
      <vt:lpstr>Arial Black</vt:lpstr>
      <vt:lpstr>Calibri</vt:lpstr>
      <vt:lpstr>Gill Sans MT</vt:lpstr>
      <vt:lpstr>Office Theme</vt:lpstr>
      <vt:lpstr>ONLINE RETAIL SALES ANALYSIS</vt:lpstr>
      <vt:lpstr>Tools Used</vt:lpstr>
      <vt:lpstr>Project Objectives</vt:lpstr>
      <vt:lpstr>PROJECT OVERVIEW</vt:lpstr>
      <vt:lpstr>Executive Summary</vt:lpstr>
      <vt:lpstr>Revenue Contribution by Product Category</vt:lpstr>
      <vt:lpstr>REVENUE BY SALES CHANNEL</vt:lpstr>
      <vt:lpstr>BUSINESS INSIGHT</vt:lpstr>
      <vt:lpstr>STRATEGIC RECOMMENDATIONS</vt:lpstr>
      <vt:lpstr>Recommendation</vt:lpstr>
      <vt:lpstr>Q &amp; A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Oluwaseun Ilesanmi</dc:creator>
  <cp:lastModifiedBy>Oluwaseun Ilesanmi</cp:lastModifiedBy>
  <cp:revision>2</cp:revision>
  <dcterms:created xsi:type="dcterms:W3CDTF">2026-06-30T20:40:54Z</dcterms:created>
  <dcterms:modified xsi:type="dcterms:W3CDTF">2026-06-30T22:44:33Z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